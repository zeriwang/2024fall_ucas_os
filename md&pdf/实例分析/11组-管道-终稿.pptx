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2"/>
  </p:notesMasterIdLst>
  <p:sldIdLst>
    <p:sldId id="257" r:id="rId2"/>
    <p:sldId id="263" r:id="rId3"/>
    <p:sldId id="265" r:id="rId4"/>
    <p:sldId id="275" r:id="rId5"/>
    <p:sldId id="276" r:id="rId6"/>
    <p:sldId id="267" r:id="rId7"/>
    <p:sldId id="269" r:id="rId8"/>
    <p:sldId id="287" r:id="rId9"/>
    <p:sldId id="277" r:id="rId10"/>
    <p:sldId id="273" r:id="rId11"/>
    <p:sldId id="288" r:id="rId12"/>
    <p:sldId id="279" r:id="rId13"/>
    <p:sldId id="301" r:id="rId14"/>
    <p:sldId id="302" r:id="rId15"/>
    <p:sldId id="305" r:id="rId16"/>
    <p:sldId id="291" r:id="rId17"/>
    <p:sldId id="292" r:id="rId18"/>
    <p:sldId id="294" r:id="rId19"/>
    <p:sldId id="296" r:id="rId20"/>
    <p:sldId id="297" r:id="rId21"/>
    <p:sldId id="298" r:id="rId22"/>
    <p:sldId id="299" r:id="rId23"/>
    <p:sldId id="306" r:id="rId24"/>
    <p:sldId id="281" r:id="rId25"/>
    <p:sldId id="304" r:id="rId26"/>
    <p:sldId id="283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266" r:id="rId41"/>
  </p:sldIdLst>
  <p:sldSz cx="12192000" cy="6858000"/>
  <p:notesSz cx="6858000" cy="9144000"/>
  <p:embeddedFontLst>
    <p:embeddedFont>
      <p:font typeface="Consolas" panose="020B0609020204030204" pitchFamily="49" charset="0"/>
      <p:regular r:id="rId43"/>
      <p:bold r:id="rId44"/>
      <p:italic r:id="rId45"/>
      <p:boldItalic r:id="rId46"/>
    </p:embeddedFont>
    <p:embeddedFont>
      <p:font typeface="Impact" panose="020B0806030902050204" pitchFamily="34" charset="0"/>
      <p:regular r:id="rId47"/>
    </p:embeddedFont>
    <p:embeddedFont>
      <p:font typeface="JetBrains Mono ExtraBold" panose="02010600030101010101" charset="0"/>
      <p:bold r:id="rId48"/>
      <p:italic r:id="rId49"/>
      <p:boldItalic r:id="rId50"/>
    </p:embeddedFont>
    <p:embeddedFont>
      <p:font typeface="JetBrains Mono Medium" panose="02010600030101010101" charset="0"/>
      <p:italic r:id="rId51"/>
    </p:embeddedFont>
    <p:embeddedFont>
      <p:font typeface="等线" panose="02010600030101010101" pitchFamily="2" charset="-122"/>
      <p:regular r:id="rId52"/>
      <p:bold r:id="rId53"/>
    </p:embeddedFont>
    <p:embeddedFont>
      <p:font typeface="微软雅黑" panose="020B0503020204020204" pitchFamily="34" charset="-122"/>
      <p:regular r:id="rId54"/>
      <p:bold r:id="rId55"/>
    </p:embeddedFont>
  </p:embeddedFontLst>
  <p:custDataLst>
    <p:tags r:id="rId5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1324"/>
    <a:srgbClr val="0C4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79924" autoAdjust="0"/>
  </p:normalViewPr>
  <p:slideViewPr>
    <p:cSldViewPr snapToGrid="0" showGuides="1">
      <p:cViewPr varScale="1">
        <p:scale>
          <a:sx n="98" d="100"/>
          <a:sy n="98" d="100"/>
        </p:scale>
        <p:origin x="276" y="60"/>
      </p:cViewPr>
      <p:guideLst>
        <p:guide orient="horz" pos="2164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BCEC9-DDE4-4B30-87D6-0017517D5E27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4487E-253C-4F2A-AD3B-D7DF4058A6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照片为学生拍摄的礼堂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华文中宋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华文中宋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华文中宋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华文中宋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华文中宋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华文中宋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华文中宋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华文中宋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华文中宋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000F6D-74D8-0C46-B428-4DE0EB03488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宋体" charset="0"/>
                <a:cs typeface="+mn-cs"/>
              </a:r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图片可以替换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487E-253C-4F2A-AD3B-D7DF4058A67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487E-253C-4F2A-AD3B-D7DF4058A67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487E-253C-4F2A-AD3B-D7DF4058A670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487E-253C-4F2A-AD3B-D7DF4058A670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487E-253C-4F2A-AD3B-D7DF4058A6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272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487E-253C-4F2A-AD3B-D7DF4058A670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487E-253C-4F2A-AD3B-D7DF4058A670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D4487E-253C-4F2A-AD3B-D7DF4058A67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305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D4487E-253C-4F2A-AD3B-D7DF4058A67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689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487E-253C-4F2A-AD3B-D7DF4058A670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487E-253C-4F2A-AD3B-D7DF4058A670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32C326A-3541-E547-8C03-5779D23648EF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2024/10/21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597BDB-C194-6F4E-8639-1B954A600FDB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340768"/>
            <a:ext cx="10515600" cy="5061482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777B4F-0286-DE44-939A-59B26D3141B7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2024/10/21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B0674-9F2F-9048-8F8C-240B2AE1FAC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009" y="0"/>
            <a:ext cx="10538791" cy="102154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815009" y="1021543"/>
            <a:ext cx="10538791" cy="0"/>
            <a:chOff x="815009" y="1021543"/>
            <a:chExt cx="10538791" cy="0"/>
          </a:xfrm>
        </p:grpSpPr>
        <p:cxnSp>
          <p:nvCxnSpPr>
            <p:cNvPr id="8" name="直接连接符 7"/>
            <p:cNvCxnSpPr/>
            <p:nvPr userDrawn="1"/>
          </p:nvCxnSpPr>
          <p:spPr>
            <a:xfrm>
              <a:off x="815009" y="1021543"/>
              <a:ext cx="713715" cy="0"/>
            </a:xfrm>
            <a:prstGeom prst="line">
              <a:avLst/>
            </a:prstGeom>
            <a:ln w="44450">
              <a:solidFill>
                <a:srgbClr val="AE13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/>
          </p:nvCxnSpPr>
          <p:spPr>
            <a:xfrm>
              <a:off x="1683945" y="1021543"/>
              <a:ext cx="9669855" cy="0"/>
            </a:xfrm>
            <a:prstGeom prst="line">
              <a:avLst/>
            </a:pr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图片 9" descr="横版组合——透明.pn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8610600" y="6073474"/>
            <a:ext cx="3086577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7F89CA9-0F6A-E745-B1B5-0B3A7BE5D970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2024/10/21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721F5A-A6F2-4C4E-BFC8-8F7E8C0B0E84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009" y="0"/>
            <a:ext cx="10515600" cy="102154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4000" b="1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15009" y="1021543"/>
            <a:ext cx="10538791" cy="0"/>
            <a:chOff x="815009" y="1021543"/>
            <a:chExt cx="10538791" cy="0"/>
          </a:xfrm>
        </p:grpSpPr>
        <p:cxnSp>
          <p:nvCxnSpPr>
            <p:cNvPr id="7" name="直接连接符 6"/>
            <p:cNvCxnSpPr/>
            <p:nvPr userDrawn="1"/>
          </p:nvCxnSpPr>
          <p:spPr>
            <a:xfrm>
              <a:off x="815009" y="1021543"/>
              <a:ext cx="713715" cy="0"/>
            </a:xfrm>
            <a:prstGeom prst="line">
              <a:avLst/>
            </a:prstGeom>
            <a:ln w="44450">
              <a:solidFill>
                <a:srgbClr val="AE13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 userDrawn="1"/>
          </p:nvCxnSpPr>
          <p:spPr>
            <a:xfrm>
              <a:off x="1683945" y="1021543"/>
              <a:ext cx="9669855" cy="0"/>
            </a:xfrm>
            <a:prstGeom prst="line">
              <a:avLst/>
            </a:pr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 descr="横版组合——透明.pn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8610600" y="6073474"/>
            <a:ext cx="3086577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E72066-6174-6145-AA6B-3DE5C9EA0DC8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2024/10/21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0C70D4-B8A7-1C47-A003-56128FA9BF31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2098675" y="2108200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1EA215-7A23-544C-A92E-4577682AAD9A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2024/10/21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0E2911-4B38-3847-BB6A-657490750D80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C40F-0D87-4C47-A7B0-B93EF7B2BEDD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942B8-D311-4E7D-8579-3E51C69EB1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C40F-0D87-4C47-A7B0-B93EF7B2BEDD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942B8-D311-4E7D-8579-3E51C69EB1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C5E0C2-28B8-CE44-9D60-588CFEE87B31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2024/10/21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093995-55F8-9440-9010-524D68AC1856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华文中宋" charset="0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华文中宋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microsoft.com/office/2007/relationships/hdphoto" Target="../media/hdphoto1.wdp"/><Relationship Id="rId5" Type="http://schemas.openxmlformats.org/officeDocument/2006/relationships/tags" Target="../tags/tag6.xml"/><Relationship Id="rId10" Type="http://schemas.openxmlformats.org/officeDocument/2006/relationships/image" Target="../media/image3.png"/><Relationship Id="rId4" Type="http://schemas.openxmlformats.org/officeDocument/2006/relationships/tags" Target="../tags/tag5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hq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2088106"/>
            <a:ext cx="12192000" cy="2559279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2962" y="1816766"/>
            <a:ext cx="10506075" cy="1719580"/>
          </a:xfrm>
        </p:spPr>
        <p:txBody>
          <a:bodyPr/>
          <a:lstStyle/>
          <a:p>
            <a:r>
              <a:rPr lang="en-US" altLang="zh-CN" b="1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Xv6</a:t>
            </a:r>
            <a:r>
              <a:rPr lang="en-US" altLang="zh-CN" b="1" dirty="0"/>
              <a:t> </a:t>
            </a:r>
            <a:r>
              <a:rPr lang="zh-CN" altLang="en-US" b="1" dirty="0"/>
              <a:t>源码阅读汇报：管道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08722" y="3661970"/>
            <a:ext cx="9144000" cy="1970829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汇报人：王泽黎、姚永舟</a:t>
            </a:r>
            <a:endParaRPr lang="en-US" altLang="zh-CN" sz="2800" dirty="0"/>
          </a:p>
          <a:p>
            <a:r>
              <a:rPr lang="zh-CN" altLang="en-US" sz="2800" dirty="0"/>
              <a:t>汇报时间：</a:t>
            </a:r>
            <a:r>
              <a:rPr lang="en-US" altLang="zh-CN" sz="2800" dirty="0"/>
              <a:t>2024</a:t>
            </a:r>
            <a:r>
              <a:rPr lang="zh-CN" altLang="en-US" sz="2800" dirty="0"/>
              <a:t>年</a:t>
            </a:r>
            <a:r>
              <a:rPr lang="en-US" altLang="zh-CN" sz="2800" dirty="0"/>
              <a:t>10</a:t>
            </a:r>
            <a:r>
              <a:rPr lang="zh-CN" altLang="en-US" sz="2800" dirty="0"/>
              <a:t>月</a:t>
            </a:r>
            <a:r>
              <a:rPr lang="en-US" altLang="zh-CN" sz="2800" dirty="0"/>
              <a:t>21</a:t>
            </a:r>
            <a:r>
              <a:rPr lang="zh-CN" altLang="en-US" sz="2800" dirty="0"/>
              <a:t>日</a:t>
            </a:r>
            <a:endParaRPr lang="en-US" altLang="zh-CN" sz="2800" dirty="0"/>
          </a:p>
        </p:txBody>
      </p:sp>
      <p:pic>
        <p:nvPicPr>
          <p:cNvPr id="6" name="图片 5" descr="横版组合——透明.pn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3523853" y="698565"/>
            <a:ext cx="5144295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reeform 11"/>
          <p:cNvSpPr/>
          <p:nvPr/>
        </p:nvSpPr>
        <p:spPr bwMode="auto">
          <a:xfrm>
            <a:off x="4792379" y="767129"/>
            <a:ext cx="891827" cy="112668"/>
          </a:xfrm>
          <a:custGeom>
            <a:avLst/>
            <a:gdLst>
              <a:gd name="T0" fmla="*/ 111 w 1156"/>
              <a:gd name="T1" fmla="*/ 0 h 142"/>
              <a:gd name="T2" fmla="*/ 1045 w 1156"/>
              <a:gd name="T3" fmla="*/ 0 h 142"/>
              <a:gd name="T4" fmla="*/ 1156 w 1156"/>
              <a:gd name="T5" fmla="*/ 142 h 142"/>
              <a:gd name="T6" fmla="*/ 0 w 1156"/>
              <a:gd name="T7" fmla="*/ 142 h 142"/>
              <a:gd name="T8" fmla="*/ 111 w 1156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6" h="142">
                <a:moveTo>
                  <a:pt x="111" y="0"/>
                </a:moveTo>
                <a:lnTo>
                  <a:pt x="1045" y="0"/>
                </a:lnTo>
                <a:lnTo>
                  <a:pt x="1156" y="142"/>
                </a:lnTo>
                <a:lnTo>
                  <a:pt x="0" y="142"/>
                </a:lnTo>
                <a:lnTo>
                  <a:pt x="111" y="0"/>
                </a:lnTo>
                <a:close/>
              </a:path>
            </a:pathLst>
          </a:custGeom>
          <a:solidFill>
            <a:srgbClr val="006B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39" name="Freeform 10"/>
          <p:cNvSpPr/>
          <p:nvPr/>
        </p:nvSpPr>
        <p:spPr bwMode="auto">
          <a:xfrm>
            <a:off x="4628930" y="891555"/>
            <a:ext cx="6690287" cy="701401"/>
          </a:xfrm>
          <a:custGeom>
            <a:avLst/>
            <a:gdLst>
              <a:gd name="T0" fmla="*/ 97 w 8676"/>
              <a:gd name="T1" fmla="*/ 0 h 884"/>
              <a:gd name="T2" fmla="*/ 8475 w 8676"/>
              <a:gd name="T3" fmla="*/ 0 h 884"/>
              <a:gd name="T4" fmla="*/ 8676 w 8676"/>
              <a:gd name="T5" fmla="*/ 202 h 884"/>
              <a:gd name="T6" fmla="*/ 8676 w 8676"/>
              <a:gd name="T7" fmla="*/ 788 h 884"/>
              <a:gd name="T8" fmla="*/ 8579 w 8676"/>
              <a:gd name="T9" fmla="*/ 884 h 884"/>
              <a:gd name="T10" fmla="*/ 97 w 8676"/>
              <a:gd name="T11" fmla="*/ 884 h 884"/>
              <a:gd name="T12" fmla="*/ 0 w 8676"/>
              <a:gd name="T13" fmla="*/ 788 h 884"/>
              <a:gd name="T14" fmla="*/ 0 w 8676"/>
              <a:gd name="T15" fmla="*/ 96 h 884"/>
              <a:gd name="T16" fmla="*/ 97 w 8676"/>
              <a:gd name="T17" fmla="*/ 0 h 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76" h="884">
                <a:moveTo>
                  <a:pt x="97" y="0"/>
                </a:moveTo>
                <a:lnTo>
                  <a:pt x="8475" y="0"/>
                </a:lnTo>
                <a:lnTo>
                  <a:pt x="8676" y="202"/>
                </a:lnTo>
                <a:lnTo>
                  <a:pt x="8676" y="788"/>
                </a:lnTo>
                <a:cubicBezTo>
                  <a:pt x="8676" y="841"/>
                  <a:pt x="8632" y="884"/>
                  <a:pt x="8579" y="884"/>
                </a:cubicBezTo>
                <a:lnTo>
                  <a:pt x="97" y="884"/>
                </a:lnTo>
                <a:cubicBezTo>
                  <a:pt x="44" y="884"/>
                  <a:pt x="0" y="841"/>
                  <a:pt x="0" y="788"/>
                </a:cubicBezTo>
                <a:lnTo>
                  <a:pt x="0" y="96"/>
                </a:lnTo>
                <a:cubicBezTo>
                  <a:pt x="0" y="43"/>
                  <a:pt x="44" y="0"/>
                  <a:pt x="97" y="0"/>
                </a:cubicBezTo>
                <a:close/>
              </a:path>
            </a:pathLst>
          </a:custGeom>
          <a:solidFill>
            <a:srgbClr val="FFFFFF"/>
          </a:solidFill>
          <a:ln w="10" cap="flat" cmpd="sng">
            <a:solidFill>
              <a:srgbClr val="A8A9AD"/>
            </a:solidFill>
            <a:round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40" name="Rectangle 12"/>
          <p:cNvSpPr>
            <a:spLocks noChangeArrowheads="1"/>
          </p:cNvSpPr>
          <p:nvPr/>
        </p:nvSpPr>
        <p:spPr bwMode="auto">
          <a:xfrm>
            <a:off x="4878070" y="767129"/>
            <a:ext cx="720444" cy="737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41" name="Freeform 11"/>
          <p:cNvSpPr/>
          <p:nvPr/>
        </p:nvSpPr>
        <p:spPr bwMode="auto">
          <a:xfrm>
            <a:off x="4792379" y="1684623"/>
            <a:ext cx="891827" cy="112669"/>
          </a:xfrm>
          <a:custGeom>
            <a:avLst/>
            <a:gdLst>
              <a:gd name="T0" fmla="*/ 111 w 1156"/>
              <a:gd name="T1" fmla="*/ 0 h 142"/>
              <a:gd name="T2" fmla="*/ 1045 w 1156"/>
              <a:gd name="T3" fmla="*/ 0 h 142"/>
              <a:gd name="T4" fmla="*/ 1156 w 1156"/>
              <a:gd name="T5" fmla="*/ 142 h 142"/>
              <a:gd name="T6" fmla="*/ 0 w 1156"/>
              <a:gd name="T7" fmla="*/ 142 h 142"/>
              <a:gd name="T8" fmla="*/ 111 w 1156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6" h="142">
                <a:moveTo>
                  <a:pt x="111" y="0"/>
                </a:moveTo>
                <a:lnTo>
                  <a:pt x="1045" y="0"/>
                </a:lnTo>
                <a:lnTo>
                  <a:pt x="1156" y="142"/>
                </a:lnTo>
                <a:lnTo>
                  <a:pt x="0" y="142"/>
                </a:lnTo>
                <a:lnTo>
                  <a:pt x="111" y="0"/>
                </a:lnTo>
                <a:close/>
              </a:path>
            </a:pathLst>
          </a:custGeom>
          <a:solidFill>
            <a:srgbClr val="006B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42" name="Freeform 10"/>
          <p:cNvSpPr/>
          <p:nvPr/>
        </p:nvSpPr>
        <p:spPr bwMode="auto">
          <a:xfrm>
            <a:off x="4628930" y="1773488"/>
            <a:ext cx="6690287" cy="701401"/>
          </a:xfrm>
          <a:custGeom>
            <a:avLst/>
            <a:gdLst>
              <a:gd name="T0" fmla="*/ 97 w 8676"/>
              <a:gd name="T1" fmla="*/ 0 h 884"/>
              <a:gd name="T2" fmla="*/ 8475 w 8676"/>
              <a:gd name="T3" fmla="*/ 0 h 884"/>
              <a:gd name="T4" fmla="*/ 8676 w 8676"/>
              <a:gd name="T5" fmla="*/ 202 h 884"/>
              <a:gd name="T6" fmla="*/ 8676 w 8676"/>
              <a:gd name="T7" fmla="*/ 788 h 884"/>
              <a:gd name="T8" fmla="*/ 8579 w 8676"/>
              <a:gd name="T9" fmla="*/ 884 h 884"/>
              <a:gd name="T10" fmla="*/ 97 w 8676"/>
              <a:gd name="T11" fmla="*/ 884 h 884"/>
              <a:gd name="T12" fmla="*/ 0 w 8676"/>
              <a:gd name="T13" fmla="*/ 788 h 884"/>
              <a:gd name="T14" fmla="*/ 0 w 8676"/>
              <a:gd name="T15" fmla="*/ 96 h 884"/>
              <a:gd name="T16" fmla="*/ 97 w 8676"/>
              <a:gd name="T17" fmla="*/ 0 h 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76" h="884">
                <a:moveTo>
                  <a:pt x="97" y="0"/>
                </a:moveTo>
                <a:lnTo>
                  <a:pt x="8475" y="0"/>
                </a:lnTo>
                <a:lnTo>
                  <a:pt x="8676" y="202"/>
                </a:lnTo>
                <a:lnTo>
                  <a:pt x="8676" y="788"/>
                </a:lnTo>
                <a:cubicBezTo>
                  <a:pt x="8676" y="841"/>
                  <a:pt x="8632" y="884"/>
                  <a:pt x="8579" y="884"/>
                </a:cubicBezTo>
                <a:lnTo>
                  <a:pt x="97" y="884"/>
                </a:lnTo>
                <a:cubicBezTo>
                  <a:pt x="44" y="884"/>
                  <a:pt x="0" y="841"/>
                  <a:pt x="0" y="788"/>
                </a:cubicBezTo>
                <a:lnTo>
                  <a:pt x="0" y="96"/>
                </a:lnTo>
                <a:cubicBezTo>
                  <a:pt x="0" y="43"/>
                  <a:pt x="44" y="0"/>
                  <a:pt x="97" y="0"/>
                </a:cubicBezTo>
                <a:close/>
              </a:path>
            </a:pathLst>
          </a:custGeom>
          <a:solidFill>
            <a:srgbClr val="FFFFFF"/>
          </a:solidFill>
          <a:ln w="10" cap="flat" cmpd="sng">
            <a:solidFill>
              <a:srgbClr val="A8A9AD"/>
            </a:solidFill>
            <a:round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43" name="Rectangle 12"/>
          <p:cNvSpPr>
            <a:spLocks noChangeArrowheads="1"/>
          </p:cNvSpPr>
          <p:nvPr/>
        </p:nvSpPr>
        <p:spPr bwMode="auto">
          <a:xfrm>
            <a:off x="4878070" y="1684622"/>
            <a:ext cx="720444" cy="73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44" name="Freeform 11"/>
          <p:cNvSpPr/>
          <p:nvPr/>
        </p:nvSpPr>
        <p:spPr bwMode="auto">
          <a:xfrm>
            <a:off x="4792379" y="2612921"/>
            <a:ext cx="891827" cy="112668"/>
          </a:xfrm>
          <a:custGeom>
            <a:avLst/>
            <a:gdLst>
              <a:gd name="T0" fmla="*/ 111 w 1156"/>
              <a:gd name="T1" fmla="*/ 0 h 142"/>
              <a:gd name="T2" fmla="*/ 1045 w 1156"/>
              <a:gd name="T3" fmla="*/ 0 h 142"/>
              <a:gd name="T4" fmla="*/ 1156 w 1156"/>
              <a:gd name="T5" fmla="*/ 142 h 142"/>
              <a:gd name="T6" fmla="*/ 0 w 1156"/>
              <a:gd name="T7" fmla="*/ 142 h 142"/>
              <a:gd name="T8" fmla="*/ 111 w 1156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6" h="142">
                <a:moveTo>
                  <a:pt x="111" y="0"/>
                </a:moveTo>
                <a:lnTo>
                  <a:pt x="1045" y="0"/>
                </a:lnTo>
                <a:lnTo>
                  <a:pt x="1156" y="142"/>
                </a:lnTo>
                <a:lnTo>
                  <a:pt x="0" y="142"/>
                </a:lnTo>
                <a:lnTo>
                  <a:pt x="111" y="0"/>
                </a:lnTo>
                <a:close/>
              </a:path>
            </a:pathLst>
          </a:custGeom>
          <a:solidFill>
            <a:srgbClr val="006B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45" name="Freeform 10"/>
          <p:cNvSpPr/>
          <p:nvPr/>
        </p:nvSpPr>
        <p:spPr bwMode="auto">
          <a:xfrm>
            <a:off x="4628930" y="2700199"/>
            <a:ext cx="6690287" cy="701401"/>
          </a:xfrm>
          <a:custGeom>
            <a:avLst/>
            <a:gdLst>
              <a:gd name="T0" fmla="*/ 97 w 8676"/>
              <a:gd name="T1" fmla="*/ 0 h 884"/>
              <a:gd name="T2" fmla="*/ 8475 w 8676"/>
              <a:gd name="T3" fmla="*/ 0 h 884"/>
              <a:gd name="T4" fmla="*/ 8676 w 8676"/>
              <a:gd name="T5" fmla="*/ 202 h 884"/>
              <a:gd name="T6" fmla="*/ 8676 w 8676"/>
              <a:gd name="T7" fmla="*/ 788 h 884"/>
              <a:gd name="T8" fmla="*/ 8579 w 8676"/>
              <a:gd name="T9" fmla="*/ 884 h 884"/>
              <a:gd name="T10" fmla="*/ 97 w 8676"/>
              <a:gd name="T11" fmla="*/ 884 h 884"/>
              <a:gd name="T12" fmla="*/ 0 w 8676"/>
              <a:gd name="T13" fmla="*/ 788 h 884"/>
              <a:gd name="T14" fmla="*/ 0 w 8676"/>
              <a:gd name="T15" fmla="*/ 96 h 884"/>
              <a:gd name="T16" fmla="*/ 97 w 8676"/>
              <a:gd name="T17" fmla="*/ 0 h 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76" h="884">
                <a:moveTo>
                  <a:pt x="97" y="0"/>
                </a:moveTo>
                <a:lnTo>
                  <a:pt x="8475" y="0"/>
                </a:lnTo>
                <a:lnTo>
                  <a:pt x="8676" y="202"/>
                </a:lnTo>
                <a:lnTo>
                  <a:pt x="8676" y="788"/>
                </a:lnTo>
                <a:cubicBezTo>
                  <a:pt x="8676" y="841"/>
                  <a:pt x="8632" y="884"/>
                  <a:pt x="8579" y="884"/>
                </a:cubicBezTo>
                <a:lnTo>
                  <a:pt x="97" y="884"/>
                </a:lnTo>
                <a:cubicBezTo>
                  <a:pt x="44" y="884"/>
                  <a:pt x="0" y="841"/>
                  <a:pt x="0" y="788"/>
                </a:cubicBezTo>
                <a:lnTo>
                  <a:pt x="0" y="96"/>
                </a:lnTo>
                <a:cubicBezTo>
                  <a:pt x="0" y="43"/>
                  <a:pt x="44" y="0"/>
                  <a:pt x="97" y="0"/>
                </a:cubicBezTo>
                <a:close/>
              </a:path>
            </a:pathLst>
          </a:custGeom>
          <a:solidFill>
            <a:srgbClr val="FFFFFF"/>
          </a:solidFill>
          <a:ln w="10" cap="flat" cmpd="sng">
            <a:solidFill>
              <a:srgbClr val="A8A9AD"/>
            </a:solidFill>
            <a:round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46" name="Rectangle 12"/>
          <p:cNvSpPr>
            <a:spLocks noChangeArrowheads="1"/>
          </p:cNvSpPr>
          <p:nvPr/>
        </p:nvSpPr>
        <p:spPr bwMode="auto">
          <a:xfrm>
            <a:off x="4878070" y="2612921"/>
            <a:ext cx="720444" cy="737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47" name="Freeform 11"/>
          <p:cNvSpPr/>
          <p:nvPr/>
        </p:nvSpPr>
        <p:spPr bwMode="auto">
          <a:xfrm>
            <a:off x="4792379" y="3551056"/>
            <a:ext cx="891827" cy="112668"/>
          </a:xfrm>
          <a:custGeom>
            <a:avLst/>
            <a:gdLst>
              <a:gd name="T0" fmla="*/ 111 w 1156"/>
              <a:gd name="T1" fmla="*/ 0 h 142"/>
              <a:gd name="T2" fmla="*/ 1045 w 1156"/>
              <a:gd name="T3" fmla="*/ 0 h 142"/>
              <a:gd name="T4" fmla="*/ 1156 w 1156"/>
              <a:gd name="T5" fmla="*/ 142 h 142"/>
              <a:gd name="T6" fmla="*/ 0 w 1156"/>
              <a:gd name="T7" fmla="*/ 142 h 142"/>
              <a:gd name="T8" fmla="*/ 111 w 1156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6" h="142">
                <a:moveTo>
                  <a:pt x="111" y="0"/>
                </a:moveTo>
                <a:lnTo>
                  <a:pt x="1045" y="0"/>
                </a:lnTo>
                <a:lnTo>
                  <a:pt x="1156" y="142"/>
                </a:lnTo>
                <a:lnTo>
                  <a:pt x="0" y="142"/>
                </a:lnTo>
                <a:lnTo>
                  <a:pt x="111" y="0"/>
                </a:lnTo>
                <a:close/>
              </a:path>
            </a:pathLst>
          </a:custGeom>
          <a:solidFill>
            <a:srgbClr val="006B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48" name="Freeform 10"/>
          <p:cNvSpPr/>
          <p:nvPr/>
        </p:nvSpPr>
        <p:spPr bwMode="auto">
          <a:xfrm>
            <a:off x="4628930" y="3638335"/>
            <a:ext cx="6690287" cy="701401"/>
          </a:xfrm>
          <a:custGeom>
            <a:avLst/>
            <a:gdLst>
              <a:gd name="T0" fmla="*/ 97 w 8676"/>
              <a:gd name="T1" fmla="*/ 0 h 884"/>
              <a:gd name="T2" fmla="*/ 8475 w 8676"/>
              <a:gd name="T3" fmla="*/ 0 h 884"/>
              <a:gd name="T4" fmla="*/ 8676 w 8676"/>
              <a:gd name="T5" fmla="*/ 202 h 884"/>
              <a:gd name="T6" fmla="*/ 8676 w 8676"/>
              <a:gd name="T7" fmla="*/ 788 h 884"/>
              <a:gd name="T8" fmla="*/ 8579 w 8676"/>
              <a:gd name="T9" fmla="*/ 884 h 884"/>
              <a:gd name="T10" fmla="*/ 97 w 8676"/>
              <a:gd name="T11" fmla="*/ 884 h 884"/>
              <a:gd name="T12" fmla="*/ 0 w 8676"/>
              <a:gd name="T13" fmla="*/ 788 h 884"/>
              <a:gd name="T14" fmla="*/ 0 w 8676"/>
              <a:gd name="T15" fmla="*/ 96 h 884"/>
              <a:gd name="T16" fmla="*/ 97 w 8676"/>
              <a:gd name="T17" fmla="*/ 0 h 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76" h="884">
                <a:moveTo>
                  <a:pt x="97" y="0"/>
                </a:moveTo>
                <a:lnTo>
                  <a:pt x="8475" y="0"/>
                </a:lnTo>
                <a:lnTo>
                  <a:pt x="8676" y="202"/>
                </a:lnTo>
                <a:lnTo>
                  <a:pt x="8676" y="788"/>
                </a:lnTo>
                <a:cubicBezTo>
                  <a:pt x="8676" y="841"/>
                  <a:pt x="8632" y="884"/>
                  <a:pt x="8579" y="884"/>
                </a:cubicBezTo>
                <a:lnTo>
                  <a:pt x="97" y="884"/>
                </a:lnTo>
                <a:cubicBezTo>
                  <a:pt x="44" y="884"/>
                  <a:pt x="0" y="841"/>
                  <a:pt x="0" y="788"/>
                </a:cubicBezTo>
                <a:lnTo>
                  <a:pt x="0" y="96"/>
                </a:lnTo>
                <a:cubicBezTo>
                  <a:pt x="0" y="43"/>
                  <a:pt x="44" y="0"/>
                  <a:pt x="97" y="0"/>
                </a:cubicBezTo>
                <a:close/>
              </a:path>
            </a:pathLst>
          </a:custGeom>
          <a:solidFill>
            <a:srgbClr val="FFFFFF"/>
          </a:solidFill>
          <a:ln w="10" cap="flat" cmpd="sng">
            <a:solidFill>
              <a:srgbClr val="A8A9AD"/>
            </a:solidFill>
            <a:round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49" name="Rectangle 12"/>
          <p:cNvSpPr>
            <a:spLocks noChangeArrowheads="1"/>
          </p:cNvSpPr>
          <p:nvPr/>
        </p:nvSpPr>
        <p:spPr bwMode="auto">
          <a:xfrm>
            <a:off x="4878070" y="3551057"/>
            <a:ext cx="720444" cy="737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50" name="Freeform 11"/>
          <p:cNvSpPr/>
          <p:nvPr/>
        </p:nvSpPr>
        <p:spPr bwMode="auto">
          <a:xfrm>
            <a:off x="4792379" y="4509498"/>
            <a:ext cx="891827" cy="112668"/>
          </a:xfrm>
          <a:custGeom>
            <a:avLst/>
            <a:gdLst>
              <a:gd name="T0" fmla="*/ 111 w 1156"/>
              <a:gd name="T1" fmla="*/ 0 h 142"/>
              <a:gd name="T2" fmla="*/ 1045 w 1156"/>
              <a:gd name="T3" fmla="*/ 0 h 142"/>
              <a:gd name="T4" fmla="*/ 1156 w 1156"/>
              <a:gd name="T5" fmla="*/ 142 h 142"/>
              <a:gd name="T6" fmla="*/ 0 w 1156"/>
              <a:gd name="T7" fmla="*/ 142 h 142"/>
              <a:gd name="T8" fmla="*/ 111 w 1156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6" h="142">
                <a:moveTo>
                  <a:pt x="111" y="0"/>
                </a:moveTo>
                <a:lnTo>
                  <a:pt x="1045" y="0"/>
                </a:lnTo>
                <a:lnTo>
                  <a:pt x="1156" y="142"/>
                </a:lnTo>
                <a:lnTo>
                  <a:pt x="0" y="142"/>
                </a:lnTo>
                <a:lnTo>
                  <a:pt x="111" y="0"/>
                </a:lnTo>
                <a:close/>
              </a:path>
            </a:pathLst>
          </a:custGeom>
          <a:solidFill>
            <a:srgbClr val="006B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51" name="Freeform 10"/>
          <p:cNvSpPr/>
          <p:nvPr/>
        </p:nvSpPr>
        <p:spPr bwMode="auto">
          <a:xfrm>
            <a:off x="4628930" y="4596777"/>
            <a:ext cx="6690287" cy="701401"/>
          </a:xfrm>
          <a:custGeom>
            <a:avLst/>
            <a:gdLst>
              <a:gd name="T0" fmla="*/ 97 w 8676"/>
              <a:gd name="T1" fmla="*/ 0 h 884"/>
              <a:gd name="T2" fmla="*/ 8475 w 8676"/>
              <a:gd name="T3" fmla="*/ 0 h 884"/>
              <a:gd name="T4" fmla="*/ 8676 w 8676"/>
              <a:gd name="T5" fmla="*/ 202 h 884"/>
              <a:gd name="T6" fmla="*/ 8676 w 8676"/>
              <a:gd name="T7" fmla="*/ 788 h 884"/>
              <a:gd name="T8" fmla="*/ 8579 w 8676"/>
              <a:gd name="T9" fmla="*/ 884 h 884"/>
              <a:gd name="T10" fmla="*/ 97 w 8676"/>
              <a:gd name="T11" fmla="*/ 884 h 884"/>
              <a:gd name="T12" fmla="*/ 0 w 8676"/>
              <a:gd name="T13" fmla="*/ 788 h 884"/>
              <a:gd name="T14" fmla="*/ 0 w 8676"/>
              <a:gd name="T15" fmla="*/ 96 h 884"/>
              <a:gd name="T16" fmla="*/ 97 w 8676"/>
              <a:gd name="T17" fmla="*/ 0 h 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76" h="884">
                <a:moveTo>
                  <a:pt x="97" y="0"/>
                </a:moveTo>
                <a:lnTo>
                  <a:pt x="8475" y="0"/>
                </a:lnTo>
                <a:lnTo>
                  <a:pt x="8676" y="202"/>
                </a:lnTo>
                <a:lnTo>
                  <a:pt x="8676" y="788"/>
                </a:lnTo>
                <a:cubicBezTo>
                  <a:pt x="8676" y="841"/>
                  <a:pt x="8632" y="884"/>
                  <a:pt x="8579" y="884"/>
                </a:cubicBezTo>
                <a:lnTo>
                  <a:pt x="97" y="884"/>
                </a:lnTo>
                <a:cubicBezTo>
                  <a:pt x="44" y="884"/>
                  <a:pt x="0" y="841"/>
                  <a:pt x="0" y="788"/>
                </a:cubicBezTo>
                <a:lnTo>
                  <a:pt x="0" y="96"/>
                </a:lnTo>
                <a:cubicBezTo>
                  <a:pt x="0" y="43"/>
                  <a:pt x="44" y="0"/>
                  <a:pt x="97" y="0"/>
                </a:cubicBezTo>
                <a:close/>
              </a:path>
            </a:pathLst>
          </a:custGeom>
          <a:solidFill>
            <a:srgbClr val="FFFFFF"/>
          </a:solidFill>
          <a:ln w="10" cap="flat" cmpd="sng">
            <a:solidFill>
              <a:srgbClr val="A8A9AD"/>
            </a:solidFill>
            <a:round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52" name="Rectangle 12"/>
          <p:cNvSpPr>
            <a:spLocks noChangeArrowheads="1"/>
          </p:cNvSpPr>
          <p:nvPr/>
        </p:nvSpPr>
        <p:spPr bwMode="auto">
          <a:xfrm>
            <a:off x="4878070" y="4509499"/>
            <a:ext cx="720444" cy="737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353" name="TextBox 105"/>
          <p:cNvSpPr txBox="1">
            <a:spLocks noChangeArrowheads="1"/>
          </p:cNvSpPr>
          <p:nvPr/>
        </p:nvSpPr>
        <p:spPr bwMode="auto">
          <a:xfrm>
            <a:off x="5807981" y="917882"/>
            <a:ext cx="1709420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000" b="1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管道概述</a:t>
            </a:r>
          </a:p>
        </p:txBody>
      </p:sp>
      <p:sp>
        <p:nvSpPr>
          <p:cNvPr id="14354" name="TextBox 106"/>
          <p:cNvSpPr txBox="1">
            <a:spLocks noChangeArrowheads="1"/>
          </p:cNvSpPr>
          <p:nvPr/>
        </p:nvSpPr>
        <p:spPr bwMode="auto">
          <a:xfrm>
            <a:off x="4985978" y="809975"/>
            <a:ext cx="499868" cy="7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55" name="TextBox 108"/>
          <p:cNvSpPr txBox="1">
            <a:spLocks noChangeArrowheads="1"/>
          </p:cNvSpPr>
          <p:nvPr/>
        </p:nvSpPr>
        <p:spPr bwMode="auto">
          <a:xfrm>
            <a:off x="5807981" y="1865527"/>
            <a:ext cx="595547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000" b="1" dirty="0">
                <a:solidFill>
                  <a:srgbClr val="3C3C3C"/>
                </a:solidFill>
                <a:latin typeface="JetBrains Mono ExtraBold" panose="02000009000000000000" pitchFamily="49" charset="0"/>
                <a:ea typeface="微软雅黑" panose="020B0503020204020204" pitchFamily="34" charset="-122"/>
                <a:cs typeface="JetBrains Mono ExtraBold" panose="02000009000000000000" pitchFamily="49" charset="0"/>
                <a:sym typeface="+mn-ea"/>
              </a:rPr>
              <a:t>pipealloc()</a:t>
            </a:r>
            <a:r>
              <a:rPr lang="en-US" altLang="zh-CN" sz="3000" b="1" dirty="0">
                <a:solidFill>
                  <a:srgbClr val="3C3C3C"/>
                </a:solidFill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  <a:sym typeface="+mn-ea"/>
              </a:rPr>
              <a:t> &amp; </a:t>
            </a:r>
            <a:r>
              <a:rPr lang="zh-CN" altLang="en-US" sz="3000" b="1" dirty="0">
                <a:solidFill>
                  <a:srgbClr val="3C3C3C"/>
                </a:solidFill>
                <a:latin typeface="JetBrains Mono ExtraBold" panose="02000009000000000000" pitchFamily="49" charset="0"/>
                <a:ea typeface="微软雅黑" panose="020B0503020204020204" pitchFamily="34" charset="-122"/>
                <a:cs typeface="JetBrains Mono ExtraBold" panose="02000009000000000000" pitchFamily="49" charset="0"/>
                <a:sym typeface="+mn-ea"/>
              </a:rPr>
              <a:t>pipeclose()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JetBrains Mono ExtraBold" panose="02000009000000000000" pitchFamily="49" charset="0"/>
              <a:ea typeface="JetBrains Mono ExtraBold" panose="02000009000000000000" pitchFamily="49" charset="0"/>
              <a:cs typeface="JetBrains Mono ExtraBold" panose="02000009000000000000" pitchFamily="49" charset="0"/>
              <a:sym typeface="+mn-ea"/>
            </a:endParaRPr>
          </a:p>
        </p:txBody>
      </p:sp>
      <p:sp>
        <p:nvSpPr>
          <p:cNvPr id="14356" name="TextBox 109"/>
          <p:cNvSpPr txBox="1">
            <a:spLocks noChangeArrowheads="1"/>
          </p:cNvSpPr>
          <p:nvPr/>
        </p:nvSpPr>
        <p:spPr bwMode="auto">
          <a:xfrm>
            <a:off x="4985978" y="1705253"/>
            <a:ext cx="499868" cy="707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58" name="TextBox 116"/>
          <p:cNvSpPr txBox="1">
            <a:spLocks noChangeArrowheads="1"/>
          </p:cNvSpPr>
          <p:nvPr/>
        </p:nvSpPr>
        <p:spPr bwMode="auto">
          <a:xfrm>
            <a:off x="4985978" y="2631963"/>
            <a:ext cx="499868" cy="7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59" name="TextBox 117"/>
          <p:cNvSpPr txBox="1">
            <a:spLocks noChangeArrowheads="1"/>
          </p:cNvSpPr>
          <p:nvPr/>
        </p:nvSpPr>
        <p:spPr bwMode="auto">
          <a:xfrm>
            <a:off x="5807981" y="2777254"/>
            <a:ext cx="563183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defTabSz="913765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000" b="1" dirty="0">
                <a:solidFill>
                  <a:srgbClr val="3C3C3C"/>
                </a:solidFill>
                <a:latin typeface="JetBrains Mono ExtraBold" panose="02000009000000000000" pitchFamily="49" charset="0"/>
                <a:ea typeface="微软雅黑" panose="020B0503020204020204" pitchFamily="34" charset="-122"/>
                <a:cs typeface="JetBrains Mono ExtraBold" panose="02000009000000000000" pitchFamily="49" charset="0"/>
                <a:sym typeface="+mn-ea"/>
              </a:rPr>
              <a:t>pipewrite() </a:t>
            </a:r>
            <a:r>
              <a:rPr lang="en-US" altLang="zh-CN" sz="3000" b="1" dirty="0">
                <a:solidFill>
                  <a:srgbClr val="3C3C3C"/>
                </a:solidFill>
                <a:latin typeface="JetBrains Mono ExtraBold" panose="02000009000000000000" pitchFamily="49" charset="0"/>
                <a:ea typeface="微软雅黑" panose="020B0503020204020204" pitchFamily="34" charset="-122"/>
                <a:cs typeface="JetBrains Mono ExtraBold" panose="02000009000000000000" pitchFamily="49" charset="0"/>
                <a:sym typeface="+mn-ea"/>
              </a:rPr>
              <a:t>&amp; </a:t>
            </a:r>
            <a:r>
              <a:rPr lang="zh-CN" altLang="en-US" sz="3000" b="1" dirty="0">
                <a:solidFill>
                  <a:srgbClr val="3C3C3C"/>
                </a:solidFill>
                <a:latin typeface="JetBrains Mono ExtraBold" panose="02000009000000000000" pitchFamily="49" charset="0"/>
                <a:ea typeface="微软雅黑" panose="020B0503020204020204" pitchFamily="34" charset="-122"/>
                <a:cs typeface="JetBrains Mono ExtraBold" panose="02000009000000000000" pitchFamily="49" charset="0"/>
                <a:sym typeface="+mn-ea"/>
              </a:rPr>
              <a:t>piperead()</a:t>
            </a:r>
            <a:endParaRPr lang="en-US" altLang="zh-CN" sz="3000" b="1" dirty="0">
              <a:solidFill>
                <a:srgbClr val="FDCB34"/>
              </a:solidFill>
              <a:latin typeface="JetBrains Mono ExtraBold" panose="02000009000000000000" pitchFamily="49" charset="0"/>
              <a:ea typeface="JetBrains Mono ExtraBold" panose="02000009000000000000" pitchFamily="49" charset="0"/>
              <a:cs typeface="JetBrains Mono ExtraBold" panose="02000009000000000000" pitchFamily="49" charset="0"/>
            </a:endParaRPr>
          </a:p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000" b="1" i="0" u="none" strike="noStrike" kern="1200" cap="none" spc="0" normalizeH="0" baseline="0" dirty="0">
              <a:solidFill>
                <a:srgbClr val="3C3C3C"/>
              </a:solidFill>
              <a:latin typeface="JetBrains Mono ExtraBold" panose="02000009000000000000" pitchFamily="49" charset="0"/>
              <a:ea typeface="微软雅黑" panose="020B0503020204020204" pitchFamily="34" charset="-122"/>
              <a:cs typeface="JetBrains Mono ExtraBold" panose="02000009000000000000" pitchFamily="49" charset="0"/>
            </a:endParaRPr>
          </a:p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60" name="TextBox 118"/>
          <p:cNvSpPr txBox="1">
            <a:spLocks noChangeArrowheads="1"/>
          </p:cNvSpPr>
          <p:nvPr/>
        </p:nvSpPr>
        <p:spPr bwMode="auto">
          <a:xfrm>
            <a:off x="4985978" y="3581207"/>
            <a:ext cx="499868" cy="7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61" name="TextBox 119"/>
          <p:cNvSpPr txBox="1">
            <a:spLocks noChangeArrowheads="1"/>
          </p:cNvSpPr>
          <p:nvPr/>
        </p:nvSpPr>
        <p:spPr bwMode="auto">
          <a:xfrm>
            <a:off x="5807981" y="3689013"/>
            <a:ext cx="364715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000" b="1" dirty="0">
                <a:solidFill>
                  <a:srgbClr val="3C3C3C"/>
                </a:solidFill>
                <a:latin typeface="JetBrains Mono ExtraBold" panose="02000009000000000000" pitchFamily="49" charset="0"/>
                <a:ea typeface="微软雅黑" panose="020B0503020204020204" pitchFamily="34" charset="-122"/>
                <a:cs typeface="JetBrains Mono ExtraBold" panose="02000009000000000000" pitchFamily="49" charset="0"/>
                <a:sym typeface="+mn-ea"/>
              </a:rPr>
              <a:t>各读写情况动画演示</a:t>
            </a:r>
            <a:endParaRPr kumimoji="0" lang="zh-CN" altLang="en-US" sz="300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62" name="TextBox 120"/>
          <p:cNvSpPr txBox="1">
            <a:spLocks noChangeArrowheads="1"/>
          </p:cNvSpPr>
          <p:nvPr/>
        </p:nvSpPr>
        <p:spPr bwMode="auto">
          <a:xfrm>
            <a:off x="4985978" y="4517433"/>
            <a:ext cx="499868" cy="7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63" name="Freeform 5"/>
          <p:cNvSpPr/>
          <p:nvPr/>
        </p:nvSpPr>
        <p:spPr bwMode="auto">
          <a:xfrm>
            <a:off x="0" y="1339"/>
            <a:ext cx="4260774" cy="6869605"/>
          </a:xfrm>
          <a:custGeom>
            <a:avLst/>
            <a:gdLst>
              <a:gd name="T0" fmla="*/ 0 w 5566"/>
              <a:gd name="T1" fmla="*/ 0 h 9000"/>
              <a:gd name="T2" fmla="*/ 4324 w 5566"/>
              <a:gd name="T3" fmla="*/ 0 h 9000"/>
              <a:gd name="T4" fmla="*/ 5566 w 5566"/>
              <a:gd name="T5" fmla="*/ 9000 h 9000"/>
              <a:gd name="T6" fmla="*/ 0 w 5566"/>
              <a:gd name="T7" fmla="*/ 9000 h 9000"/>
              <a:gd name="T8" fmla="*/ 0 w 5566"/>
              <a:gd name="T9" fmla="*/ 0 h 9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6" h="9000">
                <a:moveTo>
                  <a:pt x="0" y="0"/>
                </a:moveTo>
                <a:lnTo>
                  <a:pt x="4324" y="0"/>
                </a:lnTo>
                <a:lnTo>
                  <a:pt x="5566" y="9000"/>
                </a:lnTo>
                <a:lnTo>
                  <a:pt x="0" y="9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0" cstate="screen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5900"/>
                      </a14:imgEffect>
                      <a14:imgEffect>
                        <a14:saturation sat="120000"/>
                      </a14:imgEffect>
                    </a14:imgLayer>
                  </a14:imgProps>
                </a:ext>
              </a:extLst>
            </a:blip>
            <a:srcRect/>
            <a:stretch>
              <a:fillRect l="-14000" r="-35000"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40569" y="1339"/>
            <a:ext cx="1867759" cy="6869605"/>
            <a:chOff x="2640569" y="1339"/>
            <a:chExt cx="1867759" cy="6869605"/>
          </a:xfrm>
        </p:grpSpPr>
        <p:sp>
          <p:nvSpPr>
            <p:cNvPr id="14364" name="Freeform 6"/>
            <p:cNvSpPr/>
            <p:nvPr/>
          </p:nvSpPr>
          <p:spPr bwMode="auto">
            <a:xfrm>
              <a:off x="3392751" y="1339"/>
              <a:ext cx="1115577" cy="6869605"/>
            </a:xfrm>
            <a:custGeom>
              <a:avLst/>
              <a:gdLst>
                <a:gd name="T0" fmla="*/ 0 w 1457"/>
                <a:gd name="T1" fmla="*/ 0 h 9000"/>
                <a:gd name="T2" fmla="*/ 224 w 1457"/>
                <a:gd name="T3" fmla="*/ 0 h 9000"/>
                <a:gd name="T4" fmla="*/ 1457 w 1457"/>
                <a:gd name="T5" fmla="*/ 9000 h 9000"/>
                <a:gd name="T6" fmla="*/ 1233 w 1457"/>
                <a:gd name="T7" fmla="*/ 9000 h 9000"/>
                <a:gd name="T8" fmla="*/ 0 w 1457"/>
                <a:gd name="T9" fmla="*/ 0 h 9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7" h="9000">
                  <a:moveTo>
                    <a:pt x="0" y="0"/>
                  </a:moveTo>
                  <a:lnTo>
                    <a:pt x="224" y="0"/>
                  </a:lnTo>
                  <a:lnTo>
                    <a:pt x="1457" y="9000"/>
                  </a:lnTo>
                  <a:lnTo>
                    <a:pt x="1233" y="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37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6794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365" name="矩形 12"/>
            <p:cNvSpPr>
              <a:spLocks noChangeArrowheads="1"/>
            </p:cNvSpPr>
            <p:nvPr/>
          </p:nvSpPr>
          <p:spPr bwMode="auto">
            <a:xfrm>
              <a:off x="2640569" y="5937859"/>
              <a:ext cx="1732873" cy="7823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37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6794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4366" name="TextBox 98"/>
          <p:cNvSpPr txBox="1">
            <a:spLocks noChangeArrowheads="1"/>
          </p:cNvSpPr>
          <p:nvPr/>
        </p:nvSpPr>
        <p:spPr bwMode="auto">
          <a:xfrm>
            <a:off x="2800845" y="5977530"/>
            <a:ext cx="902934" cy="52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</a:p>
        </p:txBody>
      </p:sp>
      <p:sp>
        <p:nvSpPr>
          <p:cNvPr id="14367" name="TextBox 104"/>
          <p:cNvSpPr txBox="1">
            <a:spLocks noChangeArrowheads="1"/>
          </p:cNvSpPr>
          <p:nvPr/>
        </p:nvSpPr>
        <p:spPr bwMode="auto">
          <a:xfrm>
            <a:off x="2854798" y="6359968"/>
            <a:ext cx="1180639" cy="36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4" name="图片 33" descr="横版组合——透明.png"/>
          <p:cNvPicPr>
            <a:picLocks noChangeAspect="1"/>
          </p:cNvPicPr>
          <p:nvPr/>
        </p:nvPicPr>
        <p:blipFill>
          <a:blip r:embed="rId12" cstate="screen"/>
          <a:srcRect/>
          <a:stretch>
            <a:fillRect/>
          </a:stretch>
        </p:blipFill>
        <p:spPr bwMode="auto">
          <a:xfrm>
            <a:off x="8468075" y="127196"/>
            <a:ext cx="342953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reeform 11"/>
          <p:cNvSpPr/>
          <p:nvPr>
            <p:custDataLst>
              <p:tags r:id="rId1"/>
            </p:custDataLst>
          </p:nvPr>
        </p:nvSpPr>
        <p:spPr bwMode="auto">
          <a:xfrm>
            <a:off x="4792379" y="5417548"/>
            <a:ext cx="891827" cy="112668"/>
          </a:xfrm>
          <a:custGeom>
            <a:avLst/>
            <a:gdLst>
              <a:gd name="T0" fmla="*/ 111 w 1156"/>
              <a:gd name="T1" fmla="*/ 0 h 142"/>
              <a:gd name="T2" fmla="*/ 1045 w 1156"/>
              <a:gd name="T3" fmla="*/ 0 h 142"/>
              <a:gd name="T4" fmla="*/ 1156 w 1156"/>
              <a:gd name="T5" fmla="*/ 142 h 142"/>
              <a:gd name="T6" fmla="*/ 0 w 1156"/>
              <a:gd name="T7" fmla="*/ 142 h 142"/>
              <a:gd name="T8" fmla="*/ 111 w 1156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6" h="142">
                <a:moveTo>
                  <a:pt x="111" y="0"/>
                </a:moveTo>
                <a:lnTo>
                  <a:pt x="1045" y="0"/>
                </a:lnTo>
                <a:lnTo>
                  <a:pt x="1156" y="142"/>
                </a:lnTo>
                <a:lnTo>
                  <a:pt x="0" y="142"/>
                </a:lnTo>
                <a:lnTo>
                  <a:pt x="111" y="0"/>
                </a:lnTo>
                <a:close/>
              </a:path>
            </a:pathLst>
          </a:custGeom>
          <a:solidFill>
            <a:srgbClr val="006B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Freeform 10"/>
          <p:cNvSpPr/>
          <p:nvPr>
            <p:custDataLst>
              <p:tags r:id="rId2"/>
            </p:custDataLst>
          </p:nvPr>
        </p:nvSpPr>
        <p:spPr bwMode="auto">
          <a:xfrm>
            <a:off x="4628930" y="5504827"/>
            <a:ext cx="6690287" cy="701401"/>
          </a:xfrm>
          <a:custGeom>
            <a:avLst/>
            <a:gdLst>
              <a:gd name="T0" fmla="*/ 97 w 8676"/>
              <a:gd name="T1" fmla="*/ 0 h 884"/>
              <a:gd name="T2" fmla="*/ 8475 w 8676"/>
              <a:gd name="T3" fmla="*/ 0 h 884"/>
              <a:gd name="T4" fmla="*/ 8676 w 8676"/>
              <a:gd name="T5" fmla="*/ 202 h 884"/>
              <a:gd name="T6" fmla="*/ 8676 w 8676"/>
              <a:gd name="T7" fmla="*/ 788 h 884"/>
              <a:gd name="T8" fmla="*/ 8579 w 8676"/>
              <a:gd name="T9" fmla="*/ 884 h 884"/>
              <a:gd name="T10" fmla="*/ 97 w 8676"/>
              <a:gd name="T11" fmla="*/ 884 h 884"/>
              <a:gd name="T12" fmla="*/ 0 w 8676"/>
              <a:gd name="T13" fmla="*/ 788 h 884"/>
              <a:gd name="T14" fmla="*/ 0 w 8676"/>
              <a:gd name="T15" fmla="*/ 96 h 884"/>
              <a:gd name="T16" fmla="*/ 97 w 8676"/>
              <a:gd name="T17" fmla="*/ 0 h 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76" h="884">
                <a:moveTo>
                  <a:pt x="97" y="0"/>
                </a:moveTo>
                <a:lnTo>
                  <a:pt x="8475" y="0"/>
                </a:lnTo>
                <a:lnTo>
                  <a:pt x="8676" y="202"/>
                </a:lnTo>
                <a:lnTo>
                  <a:pt x="8676" y="788"/>
                </a:lnTo>
                <a:cubicBezTo>
                  <a:pt x="8676" y="841"/>
                  <a:pt x="8632" y="884"/>
                  <a:pt x="8579" y="884"/>
                </a:cubicBezTo>
                <a:lnTo>
                  <a:pt x="97" y="884"/>
                </a:lnTo>
                <a:cubicBezTo>
                  <a:pt x="44" y="884"/>
                  <a:pt x="0" y="841"/>
                  <a:pt x="0" y="788"/>
                </a:cubicBezTo>
                <a:lnTo>
                  <a:pt x="0" y="96"/>
                </a:lnTo>
                <a:cubicBezTo>
                  <a:pt x="0" y="43"/>
                  <a:pt x="44" y="0"/>
                  <a:pt x="97" y="0"/>
                </a:cubicBezTo>
                <a:close/>
              </a:path>
            </a:pathLst>
          </a:custGeom>
          <a:solidFill>
            <a:srgbClr val="FFFFFF"/>
          </a:solidFill>
          <a:ln w="10" cap="flat" cmpd="sng">
            <a:solidFill>
              <a:srgbClr val="A8A9AD"/>
            </a:solidFill>
            <a:round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1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78070" y="5417549"/>
            <a:ext cx="720444" cy="737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79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TextBox 11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07981" y="5585758"/>
            <a:ext cx="30988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000" b="1" i="0" u="none" strike="noStrike" kern="1200" cap="none" spc="0" normalizeH="0" baseline="0" noProof="0">
              <a:ln>
                <a:noFill/>
              </a:ln>
              <a:solidFill>
                <a:srgbClr val="FDCB3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00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TextBox 12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985978" y="5425483"/>
            <a:ext cx="50038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</a:p>
        </p:txBody>
      </p:sp>
      <p:sp>
        <p:nvSpPr>
          <p:cNvPr id="8" name="TextBox 11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07981" y="4684693"/>
            <a:ext cx="326243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剩余基础题目分析</a:t>
            </a:r>
            <a:endParaRPr kumimoji="0" lang="zh-CN" altLang="en-US" sz="300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TextBox 119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892800" y="5595620"/>
            <a:ext cx="2854325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进阶题</a:t>
            </a:r>
            <a:r>
              <a:rPr kumimoji="0" lang="en-US" altLang="zh-CN" sz="3000" b="1" i="0" u="none" strike="noStrike" kern="1200" cap="none" spc="0" normalizeH="0" baseline="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3000" b="1" dirty="0">
                <a:solidFill>
                  <a:srgbClr val="3C3C3C"/>
                </a:solidFill>
                <a:latin typeface="JetBrains Mono ExtraBold" panose="02000009000000000000" pitchFamily="49" charset="0"/>
                <a:ea typeface="微软雅黑" panose="020B0503020204020204" pitchFamily="34" charset="-122"/>
                <a:cs typeface="JetBrains Mono ExtraBold" panose="02000009000000000000" pitchFamily="49" charset="0"/>
                <a:sym typeface="+mn-ea"/>
              </a:rPr>
              <a:t>spinlock</a:t>
            </a:r>
            <a:r>
              <a:rPr lang="zh-CN" altLang="en-US" sz="3000" b="1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读写锁调研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DCB3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3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3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3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3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3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0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1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500"/>
                            </p:stCondLst>
                            <p:childTnLst>
                              <p:par>
                                <p:cTn id="1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90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9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9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ldLvl="0" animBg="1" autoUpdateAnimBg="0"/>
      <p:bldP spid="14343" grpId="0" bldLvl="0" animBg="1" autoUpdateAnimBg="0"/>
      <p:bldP spid="14346" grpId="0" bldLvl="0" animBg="1" autoUpdateAnimBg="0"/>
      <p:bldP spid="14349" grpId="0" bldLvl="0" animBg="1" autoUpdateAnimBg="0"/>
      <p:bldP spid="14352" grpId="0" bldLvl="0" animBg="1" autoUpdateAnimBg="0"/>
      <p:bldP spid="14353" grpId="0" autoUpdateAnimBg="0"/>
      <p:bldP spid="14354" grpId="0"/>
      <p:bldP spid="14355" grpId="0" autoUpdateAnimBg="0"/>
      <p:bldP spid="14356" grpId="0" bldLvl="0" animBg="1"/>
      <p:bldP spid="14358" grpId="0" autoUpdateAnimBg="0"/>
      <p:bldP spid="14359" grpId="0" autoUpdateAnimBg="0"/>
      <p:bldP spid="14360" grpId="0"/>
      <p:bldP spid="14361" grpId="0" autoUpdateAnimBg="0"/>
      <p:bldP spid="14362" grpId="0" autoUpdateAnimBg="0"/>
      <p:bldP spid="14366" grpId="0" autoUpdateAnimBg="0"/>
      <p:bldP spid="14367" grpId="0" autoUpdateAnimBg="0"/>
      <p:bldP spid="5" grpId="0" bldLvl="0" animBg="1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 cstate="screen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5"/>
          <p:cNvSpPr/>
          <p:nvPr/>
        </p:nvSpPr>
        <p:spPr bwMode="auto">
          <a:xfrm>
            <a:off x="771225" y="1754842"/>
            <a:ext cx="2935728" cy="487172"/>
          </a:xfrm>
          <a:custGeom>
            <a:avLst/>
            <a:gdLst>
              <a:gd name="T0" fmla="*/ 275 w 3851"/>
              <a:gd name="T1" fmla="*/ 0 h 633"/>
              <a:gd name="T2" fmla="*/ 3575 w 3851"/>
              <a:gd name="T3" fmla="*/ 0 h 633"/>
              <a:gd name="T4" fmla="*/ 3851 w 3851"/>
              <a:gd name="T5" fmla="*/ 633 h 633"/>
              <a:gd name="T6" fmla="*/ 0 w 3851"/>
              <a:gd name="T7" fmla="*/ 633 h 633"/>
              <a:gd name="T8" fmla="*/ 275 w 3851"/>
              <a:gd name="T9" fmla="*/ 0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51" h="633">
                <a:moveTo>
                  <a:pt x="275" y="0"/>
                </a:moveTo>
                <a:lnTo>
                  <a:pt x="3575" y="0"/>
                </a:lnTo>
                <a:lnTo>
                  <a:pt x="3851" y="633"/>
                </a:lnTo>
                <a:lnTo>
                  <a:pt x="0" y="633"/>
                </a:lnTo>
                <a:lnTo>
                  <a:pt x="275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3" name="Rectangle 6"/>
          <p:cNvSpPr>
            <a:spLocks noChangeArrowheads="1"/>
          </p:cNvSpPr>
          <p:nvPr/>
        </p:nvSpPr>
        <p:spPr bwMode="auto">
          <a:xfrm>
            <a:off x="1" y="2245189"/>
            <a:ext cx="12192000" cy="2196242"/>
          </a:xfrm>
          <a:prstGeom prst="rect">
            <a:avLst/>
          </a:prstGeom>
          <a:gradFill flip="none" rotWithShape="1">
            <a:gsLst>
              <a:gs pos="0">
                <a:srgbClr val="0C4994">
                  <a:shade val="30000"/>
                  <a:satMod val="115000"/>
                </a:srgbClr>
              </a:gs>
              <a:gs pos="50000">
                <a:srgbClr val="0C4994">
                  <a:shade val="67500"/>
                  <a:satMod val="115000"/>
                </a:srgbClr>
              </a:gs>
              <a:gs pos="100000">
                <a:srgbClr val="0C4994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4" name="Rectangle 7"/>
          <p:cNvSpPr>
            <a:spLocks noChangeArrowheads="1"/>
          </p:cNvSpPr>
          <p:nvPr/>
        </p:nvSpPr>
        <p:spPr bwMode="auto">
          <a:xfrm>
            <a:off x="980692" y="1754842"/>
            <a:ext cx="2513618" cy="2686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6" name="TextBox 25"/>
          <p:cNvSpPr txBox="1">
            <a:spLocks noChangeArrowheads="1"/>
          </p:cNvSpPr>
          <p:nvPr/>
        </p:nvSpPr>
        <p:spPr bwMode="auto">
          <a:xfrm>
            <a:off x="3794547" y="2744758"/>
            <a:ext cx="550806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第一部分：管道概述</a:t>
            </a:r>
          </a:p>
        </p:txBody>
      </p:sp>
      <p:sp>
        <p:nvSpPr>
          <p:cNvPr id="10247" name="TextBox 26"/>
          <p:cNvSpPr txBox="1">
            <a:spLocks noChangeArrowheads="1"/>
          </p:cNvSpPr>
          <p:nvPr/>
        </p:nvSpPr>
        <p:spPr bwMode="auto">
          <a:xfrm>
            <a:off x="1198095" y="2245187"/>
            <a:ext cx="2081987" cy="1937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9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19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 descr="横版组合——透明.pn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8468075" y="127196"/>
            <a:ext cx="342953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nimBg="1" autoUpdateAnimBg="0"/>
      <p:bldP spid="10244" grpId="0" animBg="1" autoUpdateAnimBg="0"/>
      <p:bldP spid="10246" grpId="0" autoUpdateAnimBg="0"/>
      <p:bldP spid="1024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43578" y="1340768"/>
            <a:ext cx="10610222" cy="1422529"/>
          </a:xfrm>
        </p:spPr>
        <p:txBody>
          <a:bodyPr/>
          <a:lstStyle/>
          <a:p>
            <a:r>
              <a:rPr lang="zh-CN" altLang="en-US" dirty="0"/>
              <a:t>由于每一个进程都有一个独立的虚拟地址空间，一个进程不能直接访问另一个进程的地址空间，所以需要由操作系统来提供进程之间的通信方式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14705" y="123825"/>
            <a:ext cx="10539095" cy="897890"/>
          </a:xfrm>
        </p:spPr>
        <p:txBody>
          <a:bodyPr/>
          <a:lstStyle/>
          <a:p>
            <a:r>
              <a:rPr lang="en-US" altLang="zh-CN" b="0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WHY PIPE？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73DD7616-8761-CB29-9477-DA9A3D063744}"/>
              </a:ext>
            </a:extLst>
          </p:cNvPr>
          <p:cNvSpPr txBox="1">
            <a:spLocks/>
          </p:cNvSpPr>
          <p:nvPr/>
        </p:nvSpPr>
        <p:spPr>
          <a:xfrm>
            <a:off x="743578" y="3082350"/>
            <a:ext cx="10610222" cy="1422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很自然的，如果需要将数据从一个进程发送给另一个进程，就需要有一个“共享”的内存区域存在，使得不同进程都可以去访问这个区域。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存在一个共享的内存区域，存在一个写入进程，一个读取进程。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HOW PIPE？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69BC71-4114-89E6-6D92-74B45E892F67}"/>
              </a:ext>
            </a:extLst>
          </p:cNvPr>
          <p:cNvSpPr/>
          <p:nvPr/>
        </p:nvSpPr>
        <p:spPr>
          <a:xfrm>
            <a:off x="1547446" y="2542233"/>
            <a:ext cx="9283839" cy="132927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Buffer</a:t>
            </a:r>
            <a:endParaRPr lang="zh-CN" altLang="en-US" sz="28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09CD5BB-BD76-AF81-F1E1-FF5001E6E0F1}"/>
              </a:ext>
            </a:extLst>
          </p:cNvPr>
          <p:cNvCxnSpPr>
            <a:cxnSpLocks/>
          </p:cNvCxnSpPr>
          <p:nvPr/>
        </p:nvCxnSpPr>
        <p:spPr>
          <a:xfrm flipV="1">
            <a:off x="631172" y="3206871"/>
            <a:ext cx="769595" cy="1616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A8A53E8-A335-8699-C852-FA83920E259E}"/>
              </a:ext>
            </a:extLst>
          </p:cNvPr>
          <p:cNvSpPr txBox="1"/>
          <p:nvPr/>
        </p:nvSpPr>
        <p:spPr>
          <a:xfrm>
            <a:off x="0" y="5181154"/>
            <a:ext cx="2581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Process Write</a:t>
            </a:r>
            <a:endParaRPr lang="zh-CN" altLang="en-US" sz="2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55AE091-F25A-6F03-126F-BD81652B37C6}"/>
              </a:ext>
            </a:extLst>
          </p:cNvPr>
          <p:cNvCxnSpPr/>
          <p:nvPr/>
        </p:nvCxnSpPr>
        <p:spPr>
          <a:xfrm>
            <a:off x="11012993" y="3206871"/>
            <a:ext cx="482321" cy="1616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59523A2-86DB-6B31-E4AA-0E580FE77DE5}"/>
              </a:ext>
            </a:extLst>
          </p:cNvPr>
          <p:cNvSpPr txBox="1"/>
          <p:nvPr/>
        </p:nvSpPr>
        <p:spPr>
          <a:xfrm>
            <a:off x="9334917" y="5181153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Process Read</a:t>
            </a:r>
            <a:endParaRPr lang="zh-CN" altLang="en-US" sz="2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11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1543"/>
          </a:xfrm>
        </p:spPr>
        <p:txBody>
          <a:bodyPr/>
          <a:lstStyle/>
          <a:p>
            <a:r>
              <a:rPr lang="en-US" altLang="zh-CN" b="0" dirty="0">
                <a:effectLst/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WHAT’S PIPE</a:t>
            </a:r>
            <a:endParaRPr lang="zh-CN" altLang="en-US" b="0" dirty="0">
              <a:effectLst/>
              <a:latin typeface="JetBrains Mono ExtraBold" panose="02000009000000000000" pitchFamily="49" charset="0"/>
              <a:cs typeface="JetBrains Mono ExtraBold" panose="02000009000000000000" pitchFamily="49" charset="0"/>
            </a:endParaRP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F442844B-8F1C-576F-F038-6B601E997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211" y="2012464"/>
            <a:ext cx="7633963" cy="3808326"/>
          </a:xfrm>
        </p:spPr>
      </p:pic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2387DCC6-C682-BD8D-7F9C-2C59428C5745}"/>
              </a:ext>
            </a:extLst>
          </p:cNvPr>
          <p:cNvSpPr txBox="1">
            <a:spLocks/>
          </p:cNvSpPr>
          <p:nvPr/>
        </p:nvSpPr>
        <p:spPr>
          <a:xfrm>
            <a:off x="771211" y="1342993"/>
            <a:ext cx="6550688" cy="669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一个管道结构体该怎么实现？</a:t>
            </a:r>
            <a:endParaRPr lang="en-US" altLang="zh-CN" dirty="0"/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CCE3E0B2-9A76-995A-76C9-5A8CE921647E}"/>
              </a:ext>
            </a:extLst>
          </p:cNvPr>
          <p:cNvSpPr txBox="1">
            <a:spLocks/>
          </p:cNvSpPr>
          <p:nvPr/>
        </p:nvSpPr>
        <p:spPr>
          <a:xfrm>
            <a:off x="8521002" y="1978074"/>
            <a:ext cx="3305908" cy="805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对管道的读写应该是互斥的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ym typeface="Wingdings" panose="05000000000000000000" pitchFamily="2" charset="2"/>
              </a:rPr>
              <a:t>需要有锁</a:t>
            </a:r>
            <a:endParaRPr lang="en-US" altLang="zh-CN" sz="2000" dirty="0"/>
          </a:p>
        </p:txBody>
      </p:sp>
      <p:sp>
        <p:nvSpPr>
          <p:cNvPr id="12" name="内容占位符 1">
            <a:extLst>
              <a:ext uri="{FF2B5EF4-FFF2-40B4-BE49-F238E27FC236}">
                <a16:creationId xmlns:a16="http://schemas.microsoft.com/office/drawing/2014/main" id="{7159A489-86CC-9A96-800D-E6C1F7BBB97B}"/>
              </a:ext>
            </a:extLst>
          </p:cNvPr>
          <p:cNvSpPr txBox="1">
            <a:spLocks/>
          </p:cNvSpPr>
          <p:nvPr/>
        </p:nvSpPr>
        <p:spPr>
          <a:xfrm>
            <a:off x="8521002" y="2934605"/>
            <a:ext cx="3305908" cy="805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管道当前的状态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ym typeface="Wingdings" panose="05000000000000000000" pitchFamily="2" charset="2"/>
              </a:rPr>
              <a:t>需要有读写位置的</a:t>
            </a:r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  <a:sym typeface="Wingdings" panose="05000000000000000000" pitchFamily="2" charset="2"/>
              </a:rPr>
              <a:t>index</a:t>
            </a:r>
            <a:r>
              <a:rPr lang="zh-CN" altLang="en-US" sz="2000" dirty="0">
                <a:sym typeface="Wingdings" panose="05000000000000000000" pitchFamily="2" charset="2"/>
              </a:rPr>
              <a:t>标识</a:t>
            </a:r>
            <a:endParaRPr lang="en-US" altLang="zh-CN" sz="2000" dirty="0"/>
          </a:p>
        </p:txBody>
      </p:sp>
      <p:sp>
        <p:nvSpPr>
          <p:cNvPr id="13" name="内容占位符 1">
            <a:extLst>
              <a:ext uri="{FF2B5EF4-FFF2-40B4-BE49-F238E27FC236}">
                <a16:creationId xmlns:a16="http://schemas.microsoft.com/office/drawing/2014/main" id="{B9D7F932-5411-0B3E-C686-166C2BA8C112}"/>
              </a:ext>
            </a:extLst>
          </p:cNvPr>
          <p:cNvSpPr txBox="1">
            <a:spLocks/>
          </p:cNvSpPr>
          <p:nvPr/>
        </p:nvSpPr>
        <p:spPr>
          <a:xfrm>
            <a:off x="8521002" y="3916627"/>
            <a:ext cx="3305908" cy="805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读端口和写端口开没开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ym typeface="Wingdings" panose="05000000000000000000" pitchFamily="2" charset="2"/>
              </a:rPr>
              <a:t>标识</a:t>
            </a:r>
            <a:endParaRPr lang="en-US" altLang="zh-CN" sz="2000" dirty="0"/>
          </a:p>
        </p:txBody>
      </p:sp>
      <p:sp>
        <p:nvSpPr>
          <p:cNvPr id="14" name="内容占位符 1">
            <a:extLst>
              <a:ext uri="{FF2B5EF4-FFF2-40B4-BE49-F238E27FC236}">
                <a16:creationId xmlns:a16="http://schemas.microsoft.com/office/drawing/2014/main" id="{7EB1160F-9EA3-C3EB-ABF2-A951F466AFCE}"/>
              </a:ext>
            </a:extLst>
          </p:cNvPr>
          <p:cNvSpPr txBox="1">
            <a:spLocks/>
          </p:cNvSpPr>
          <p:nvPr/>
        </p:nvSpPr>
        <p:spPr>
          <a:xfrm>
            <a:off x="8521002" y="4898649"/>
            <a:ext cx="3305908" cy="805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存放的数据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  <a:sym typeface="Wingdings" panose="05000000000000000000" pitchFamily="2" charset="2"/>
              </a:rPr>
              <a:t>data</a:t>
            </a:r>
            <a:r>
              <a:rPr lang="zh-CN" altLang="en-US" sz="2000" dirty="0">
                <a:sym typeface="Wingdings" panose="05000000000000000000" pitchFamily="2" charset="2"/>
              </a:rPr>
              <a:t>数组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1543"/>
          </a:xfrm>
        </p:spPr>
        <p:txBody>
          <a:bodyPr/>
          <a:lstStyle/>
          <a:p>
            <a:r>
              <a:rPr lang="zh-CN" altLang="en-US" dirty="0"/>
              <a:t>搭建管道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126494-F63A-EBC5-9527-E7363ACD67DC}"/>
              </a:ext>
            </a:extLst>
          </p:cNvPr>
          <p:cNvSpPr/>
          <p:nvPr/>
        </p:nvSpPr>
        <p:spPr>
          <a:xfrm>
            <a:off x="1416255" y="1959429"/>
            <a:ext cx="1269245" cy="38485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204BC80-F9C9-0433-D329-5511328B40A5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1416255" y="3883686"/>
            <a:ext cx="12692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2E44F48-17FB-5467-1E60-4EBD9C81387A}"/>
              </a:ext>
            </a:extLst>
          </p:cNvPr>
          <p:cNvCxnSpPr>
            <a:cxnSpLocks/>
          </p:cNvCxnSpPr>
          <p:nvPr/>
        </p:nvCxnSpPr>
        <p:spPr>
          <a:xfrm flipV="1">
            <a:off x="1416254" y="4153321"/>
            <a:ext cx="1269245" cy="6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03CB7D8-9059-CB33-74A2-094E931D88CD}"/>
              </a:ext>
            </a:extLst>
          </p:cNvPr>
          <p:cNvCxnSpPr>
            <a:cxnSpLocks/>
          </p:cNvCxnSpPr>
          <p:nvPr/>
        </p:nvCxnSpPr>
        <p:spPr>
          <a:xfrm>
            <a:off x="1416254" y="4443044"/>
            <a:ext cx="12692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A3480D3-8586-DEC6-3802-42C14E5D0F88}"/>
              </a:ext>
            </a:extLst>
          </p:cNvPr>
          <p:cNvCxnSpPr>
            <a:cxnSpLocks/>
          </p:cNvCxnSpPr>
          <p:nvPr/>
        </p:nvCxnSpPr>
        <p:spPr>
          <a:xfrm>
            <a:off x="1416254" y="4726071"/>
            <a:ext cx="1269245" cy="6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B95FC1A-D9B1-EC24-FE44-53A1D8B75A38}"/>
              </a:ext>
            </a:extLst>
          </p:cNvPr>
          <p:cNvCxnSpPr>
            <a:cxnSpLocks/>
          </p:cNvCxnSpPr>
          <p:nvPr/>
        </p:nvCxnSpPr>
        <p:spPr>
          <a:xfrm flipV="1">
            <a:off x="1416254" y="5004518"/>
            <a:ext cx="1269245" cy="11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9CED80DD-713A-2A70-6E3A-305CDE9404F9}"/>
              </a:ext>
            </a:extLst>
          </p:cNvPr>
          <p:cNvSpPr/>
          <p:nvPr/>
        </p:nvSpPr>
        <p:spPr>
          <a:xfrm>
            <a:off x="1249619" y="3876991"/>
            <a:ext cx="45719" cy="113713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39A647-E8ED-31A2-79B3-E3FB441CD872}"/>
              </a:ext>
            </a:extLst>
          </p:cNvPr>
          <p:cNvSpPr txBox="1"/>
          <p:nvPr/>
        </p:nvSpPr>
        <p:spPr>
          <a:xfrm>
            <a:off x="99944" y="4258378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ofile</a:t>
            </a:r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[]</a:t>
            </a:r>
            <a:endParaRPr lang="zh-CN" altLang="en-US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0D1E862-D928-3C2B-69B3-CD83B582578C}"/>
              </a:ext>
            </a:extLst>
          </p:cNvPr>
          <p:cNvSpPr txBox="1"/>
          <p:nvPr/>
        </p:nvSpPr>
        <p:spPr>
          <a:xfrm>
            <a:off x="1452124" y="153888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Proc P</a:t>
            </a:r>
            <a:endParaRPr lang="zh-CN" altLang="en-US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F35C71-49A8-055F-B68D-1281217D275B}"/>
              </a:ext>
            </a:extLst>
          </p:cNvPr>
          <p:cNvSpPr/>
          <p:nvPr/>
        </p:nvSpPr>
        <p:spPr>
          <a:xfrm>
            <a:off x="4287467" y="1721271"/>
            <a:ext cx="1011815" cy="18346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1C0AAF2-4171-FEC4-D583-D114D8CB1C3E}"/>
              </a:ext>
            </a:extLst>
          </p:cNvPr>
          <p:cNvCxnSpPr>
            <a:cxnSpLocks/>
          </p:cNvCxnSpPr>
          <p:nvPr/>
        </p:nvCxnSpPr>
        <p:spPr>
          <a:xfrm>
            <a:off x="4286355" y="2175549"/>
            <a:ext cx="10129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5591A27-D24B-2137-AF8B-1361058EFE60}"/>
              </a:ext>
            </a:extLst>
          </p:cNvPr>
          <p:cNvCxnSpPr>
            <a:cxnSpLocks/>
          </p:cNvCxnSpPr>
          <p:nvPr/>
        </p:nvCxnSpPr>
        <p:spPr>
          <a:xfrm>
            <a:off x="4286355" y="2663313"/>
            <a:ext cx="10129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40E04E3-86AA-C76C-B696-4A7CA0B38172}"/>
              </a:ext>
            </a:extLst>
          </p:cNvPr>
          <p:cNvSpPr txBox="1"/>
          <p:nvPr/>
        </p:nvSpPr>
        <p:spPr>
          <a:xfrm>
            <a:off x="4334797" y="1805501"/>
            <a:ext cx="1146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FD_PIPE</a:t>
            </a:r>
            <a:endParaRPr lang="zh-CN" altLang="en-US" sz="1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7A9C4DF-91E9-5D90-041F-569E53262633}"/>
              </a:ext>
            </a:extLst>
          </p:cNvPr>
          <p:cNvSpPr txBox="1"/>
          <p:nvPr/>
        </p:nvSpPr>
        <p:spPr>
          <a:xfrm>
            <a:off x="4286355" y="2291381"/>
            <a:ext cx="1146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READABLE</a:t>
            </a:r>
            <a:endParaRPr lang="zh-CN" altLang="en-US" sz="1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DFAABCB-5E77-AB27-CFF6-BFF24DA8821A}"/>
              </a:ext>
            </a:extLst>
          </p:cNvPr>
          <p:cNvSpPr txBox="1"/>
          <p:nvPr/>
        </p:nvSpPr>
        <p:spPr>
          <a:xfrm>
            <a:off x="4334797" y="1375905"/>
            <a:ext cx="879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File A</a:t>
            </a:r>
            <a:endParaRPr lang="zh-CN" altLang="en-US" sz="1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2F46C434-6F74-D120-6B93-B05736AAAAD2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2239192" y="1959390"/>
            <a:ext cx="2095605" cy="207521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5E1A0029-13F4-816F-E42D-F9585E8A3BEC}"/>
              </a:ext>
            </a:extLst>
          </p:cNvPr>
          <p:cNvSpPr/>
          <p:nvPr/>
        </p:nvSpPr>
        <p:spPr>
          <a:xfrm>
            <a:off x="6779303" y="2123004"/>
            <a:ext cx="1352550" cy="19284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2A88913-0D67-5EFD-CFFF-80B33058589E}"/>
              </a:ext>
            </a:extLst>
          </p:cNvPr>
          <p:cNvSpPr txBox="1"/>
          <p:nvPr/>
        </p:nvSpPr>
        <p:spPr>
          <a:xfrm>
            <a:off x="7122810" y="1756483"/>
            <a:ext cx="879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Pipe</a:t>
            </a:r>
            <a:endParaRPr lang="zh-CN" altLang="en-US" sz="1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cxnSp>
        <p:nvCxnSpPr>
          <p:cNvPr id="72" name="连接符: 曲线 71">
            <a:extLst>
              <a:ext uri="{FF2B5EF4-FFF2-40B4-BE49-F238E27FC236}">
                <a16:creationId xmlns:a16="http://schemas.microsoft.com/office/drawing/2014/main" id="{5A85025F-5922-B1F6-6692-6DE9879FF9B5}"/>
              </a:ext>
            </a:extLst>
          </p:cNvPr>
          <p:cNvCxnSpPr>
            <a:cxnSpLocks/>
            <a:endCxn id="67" idx="1"/>
          </p:cNvCxnSpPr>
          <p:nvPr/>
        </p:nvCxnSpPr>
        <p:spPr>
          <a:xfrm>
            <a:off x="4857750" y="3087207"/>
            <a:ext cx="19215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6" grpId="0"/>
      <p:bldP spid="18" grpId="0"/>
      <p:bldP spid="28" grpId="0" animBg="1"/>
      <p:bldP spid="39" grpId="0"/>
      <p:bldP spid="41" grpId="0"/>
      <p:bldP spid="42" grpId="0"/>
      <p:bldP spid="67" grpId="0" animBg="1"/>
      <p:bldP spid="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1543"/>
          </a:xfrm>
        </p:spPr>
        <p:txBody>
          <a:bodyPr/>
          <a:lstStyle/>
          <a:p>
            <a:r>
              <a:rPr lang="zh-CN" altLang="en-US" dirty="0"/>
              <a:t>搭建管道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126494-F63A-EBC5-9527-E7363ACD67DC}"/>
              </a:ext>
            </a:extLst>
          </p:cNvPr>
          <p:cNvSpPr/>
          <p:nvPr/>
        </p:nvSpPr>
        <p:spPr>
          <a:xfrm>
            <a:off x="780907" y="2349954"/>
            <a:ext cx="1269245" cy="38485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204BC80-F9C9-0433-D329-5511328B40A5}"/>
              </a:ext>
            </a:extLst>
          </p:cNvPr>
          <p:cNvCxnSpPr>
            <a:cxnSpLocks/>
          </p:cNvCxnSpPr>
          <p:nvPr/>
        </p:nvCxnSpPr>
        <p:spPr>
          <a:xfrm>
            <a:off x="802331" y="4231855"/>
            <a:ext cx="12692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2E44F48-17FB-5467-1E60-4EBD9C81387A}"/>
              </a:ext>
            </a:extLst>
          </p:cNvPr>
          <p:cNvCxnSpPr>
            <a:cxnSpLocks/>
          </p:cNvCxnSpPr>
          <p:nvPr/>
        </p:nvCxnSpPr>
        <p:spPr>
          <a:xfrm flipV="1">
            <a:off x="802330" y="4501490"/>
            <a:ext cx="1269245" cy="6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03CB7D8-9059-CB33-74A2-094E931D88CD}"/>
              </a:ext>
            </a:extLst>
          </p:cNvPr>
          <p:cNvCxnSpPr>
            <a:cxnSpLocks/>
          </p:cNvCxnSpPr>
          <p:nvPr/>
        </p:nvCxnSpPr>
        <p:spPr>
          <a:xfrm>
            <a:off x="802330" y="4791213"/>
            <a:ext cx="12692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A3480D3-8586-DEC6-3802-42C14E5D0F88}"/>
              </a:ext>
            </a:extLst>
          </p:cNvPr>
          <p:cNvCxnSpPr>
            <a:cxnSpLocks/>
          </p:cNvCxnSpPr>
          <p:nvPr/>
        </p:nvCxnSpPr>
        <p:spPr>
          <a:xfrm>
            <a:off x="802330" y="5074240"/>
            <a:ext cx="1269245" cy="6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B95FC1A-D9B1-EC24-FE44-53A1D8B75A38}"/>
              </a:ext>
            </a:extLst>
          </p:cNvPr>
          <p:cNvCxnSpPr>
            <a:cxnSpLocks/>
          </p:cNvCxnSpPr>
          <p:nvPr/>
        </p:nvCxnSpPr>
        <p:spPr>
          <a:xfrm flipV="1">
            <a:off x="802330" y="5352687"/>
            <a:ext cx="1269245" cy="11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0D1E862-D928-3C2B-69B3-CD83B582578C}"/>
              </a:ext>
            </a:extLst>
          </p:cNvPr>
          <p:cNvSpPr txBox="1"/>
          <p:nvPr/>
        </p:nvSpPr>
        <p:spPr>
          <a:xfrm>
            <a:off x="838200" y="188705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Proc R</a:t>
            </a:r>
            <a:endParaRPr lang="zh-CN" altLang="en-US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F35C71-49A8-055F-B68D-1281217D275B}"/>
              </a:ext>
            </a:extLst>
          </p:cNvPr>
          <p:cNvSpPr/>
          <p:nvPr/>
        </p:nvSpPr>
        <p:spPr>
          <a:xfrm>
            <a:off x="3130600" y="2647264"/>
            <a:ext cx="1011815" cy="18346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1C0AAF2-4171-FEC4-D583-D114D8CB1C3E}"/>
              </a:ext>
            </a:extLst>
          </p:cNvPr>
          <p:cNvCxnSpPr>
            <a:cxnSpLocks/>
          </p:cNvCxnSpPr>
          <p:nvPr/>
        </p:nvCxnSpPr>
        <p:spPr>
          <a:xfrm>
            <a:off x="3129488" y="3116148"/>
            <a:ext cx="10129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5591A27-D24B-2137-AF8B-1361058EFE60}"/>
              </a:ext>
            </a:extLst>
          </p:cNvPr>
          <p:cNvCxnSpPr>
            <a:cxnSpLocks/>
          </p:cNvCxnSpPr>
          <p:nvPr/>
        </p:nvCxnSpPr>
        <p:spPr>
          <a:xfrm>
            <a:off x="3147540" y="3564613"/>
            <a:ext cx="10129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40E04E3-86AA-C76C-B696-4A7CA0B38172}"/>
              </a:ext>
            </a:extLst>
          </p:cNvPr>
          <p:cNvSpPr txBox="1"/>
          <p:nvPr/>
        </p:nvSpPr>
        <p:spPr>
          <a:xfrm>
            <a:off x="3147639" y="2783913"/>
            <a:ext cx="1146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FD_PIPE</a:t>
            </a:r>
            <a:endParaRPr lang="zh-CN" altLang="en-US" sz="1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7A9C4DF-91E9-5D90-041F-569E53262633}"/>
              </a:ext>
            </a:extLst>
          </p:cNvPr>
          <p:cNvSpPr txBox="1"/>
          <p:nvPr/>
        </p:nvSpPr>
        <p:spPr>
          <a:xfrm>
            <a:off x="3116365" y="3210349"/>
            <a:ext cx="1146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READABLE</a:t>
            </a:r>
            <a:endParaRPr lang="zh-CN" altLang="en-US" sz="1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DFAABCB-5E77-AB27-CFF6-BFF24DA8821A}"/>
              </a:ext>
            </a:extLst>
          </p:cNvPr>
          <p:cNvSpPr txBox="1"/>
          <p:nvPr/>
        </p:nvSpPr>
        <p:spPr>
          <a:xfrm>
            <a:off x="3196357" y="2275148"/>
            <a:ext cx="879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File A</a:t>
            </a:r>
            <a:endParaRPr lang="zh-CN" altLang="en-US" sz="1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2F46C434-6F74-D120-6B93-B05736AAAAD2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1625268" y="2937802"/>
            <a:ext cx="1522371" cy="14449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5E1A0029-13F4-816F-E42D-F9585E8A3BEC}"/>
              </a:ext>
            </a:extLst>
          </p:cNvPr>
          <p:cNvSpPr/>
          <p:nvPr/>
        </p:nvSpPr>
        <p:spPr>
          <a:xfrm>
            <a:off x="4596443" y="2952240"/>
            <a:ext cx="1352550" cy="19284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2A88913-0D67-5EFD-CFFF-80B33058589E}"/>
              </a:ext>
            </a:extLst>
          </p:cNvPr>
          <p:cNvSpPr txBox="1"/>
          <p:nvPr/>
        </p:nvSpPr>
        <p:spPr>
          <a:xfrm>
            <a:off x="4855192" y="2572194"/>
            <a:ext cx="879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Pipe</a:t>
            </a:r>
            <a:endParaRPr lang="zh-CN" altLang="en-US" sz="1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cxnSp>
        <p:nvCxnSpPr>
          <p:cNvPr id="72" name="连接符: 曲线 71">
            <a:extLst>
              <a:ext uri="{FF2B5EF4-FFF2-40B4-BE49-F238E27FC236}">
                <a16:creationId xmlns:a16="http://schemas.microsoft.com/office/drawing/2014/main" id="{5A85025F-5922-B1F6-6692-6DE9879FF9B5}"/>
              </a:ext>
            </a:extLst>
          </p:cNvPr>
          <p:cNvCxnSpPr>
            <a:cxnSpLocks/>
          </p:cNvCxnSpPr>
          <p:nvPr/>
        </p:nvCxnSpPr>
        <p:spPr>
          <a:xfrm>
            <a:off x="3853493" y="4037862"/>
            <a:ext cx="7429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C8E49706-802D-0A5C-C555-AFA325C04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8314"/>
            <a:ext cx="10515600" cy="4688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当进程</a:t>
            </a:r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fork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时，子进程会继承父进程的</a:t>
            </a:r>
            <a:r>
              <a:rPr lang="en-US" altLang="zh-CN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ofile</a:t>
            </a:r>
            <a:endParaRPr lang="zh-CN" altLang="en-US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AAE5C7-820C-5E66-7FCA-BD8F6832FF86}"/>
              </a:ext>
            </a:extLst>
          </p:cNvPr>
          <p:cNvSpPr/>
          <p:nvPr/>
        </p:nvSpPr>
        <p:spPr>
          <a:xfrm>
            <a:off x="8806398" y="2165288"/>
            <a:ext cx="1269245" cy="38485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2FEE839-B168-FCA6-E5C1-BECA70439478}"/>
              </a:ext>
            </a:extLst>
          </p:cNvPr>
          <p:cNvCxnSpPr>
            <a:cxnSpLocks/>
          </p:cNvCxnSpPr>
          <p:nvPr/>
        </p:nvCxnSpPr>
        <p:spPr>
          <a:xfrm>
            <a:off x="8827822" y="4047189"/>
            <a:ext cx="12692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2610172-E115-36EA-6C28-8F3DCA6B3E49}"/>
              </a:ext>
            </a:extLst>
          </p:cNvPr>
          <p:cNvCxnSpPr>
            <a:cxnSpLocks/>
          </p:cNvCxnSpPr>
          <p:nvPr/>
        </p:nvCxnSpPr>
        <p:spPr>
          <a:xfrm flipV="1">
            <a:off x="8827821" y="4316824"/>
            <a:ext cx="1269245" cy="6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A2D18BE-7422-7F87-7B71-8FC2A0EFC71E}"/>
              </a:ext>
            </a:extLst>
          </p:cNvPr>
          <p:cNvCxnSpPr>
            <a:cxnSpLocks/>
          </p:cNvCxnSpPr>
          <p:nvPr/>
        </p:nvCxnSpPr>
        <p:spPr>
          <a:xfrm>
            <a:off x="8827821" y="4606547"/>
            <a:ext cx="12692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EE0A2CD-6EFB-4866-25FB-83C35BFA2372}"/>
              </a:ext>
            </a:extLst>
          </p:cNvPr>
          <p:cNvCxnSpPr>
            <a:cxnSpLocks/>
          </p:cNvCxnSpPr>
          <p:nvPr/>
        </p:nvCxnSpPr>
        <p:spPr>
          <a:xfrm>
            <a:off x="8827821" y="4889574"/>
            <a:ext cx="1269245" cy="6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DDD1E88-ACA1-0487-CDFF-8F40C131B532}"/>
              </a:ext>
            </a:extLst>
          </p:cNvPr>
          <p:cNvCxnSpPr>
            <a:cxnSpLocks/>
          </p:cNvCxnSpPr>
          <p:nvPr/>
        </p:nvCxnSpPr>
        <p:spPr>
          <a:xfrm flipV="1">
            <a:off x="8827821" y="5168021"/>
            <a:ext cx="1269245" cy="11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0BF6581-C4E8-4C27-88C7-664E5D079786}"/>
              </a:ext>
            </a:extLst>
          </p:cNvPr>
          <p:cNvSpPr txBox="1"/>
          <p:nvPr/>
        </p:nvSpPr>
        <p:spPr>
          <a:xfrm>
            <a:off x="8863691" y="1702384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Proc W</a:t>
            </a:r>
            <a:endParaRPr lang="zh-CN" altLang="en-US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760087-6F76-CE9F-7A07-D984398392F4}"/>
              </a:ext>
            </a:extLst>
          </p:cNvPr>
          <p:cNvSpPr/>
          <p:nvPr/>
        </p:nvSpPr>
        <p:spPr>
          <a:xfrm>
            <a:off x="6510078" y="2647263"/>
            <a:ext cx="1145649" cy="18609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D8CDB24-92BB-8ABC-1157-44FB7475312E}"/>
              </a:ext>
            </a:extLst>
          </p:cNvPr>
          <p:cNvCxnSpPr>
            <a:cxnSpLocks/>
          </p:cNvCxnSpPr>
          <p:nvPr/>
        </p:nvCxnSpPr>
        <p:spPr>
          <a:xfrm>
            <a:off x="6508966" y="3116148"/>
            <a:ext cx="11467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B2A8942-AEA5-57C6-00B0-FB233B4705DD}"/>
              </a:ext>
            </a:extLst>
          </p:cNvPr>
          <p:cNvCxnSpPr>
            <a:cxnSpLocks/>
            <a:endCxn id="23" idx="3"/>
          </p:cNvCxnSpPr>
          <p:nvPr/>
        </p:nvCxnSpPr>
        <p:spPr>
          <a:xfrm>
            <a:off x="6508966" y="3564613"/>
            <a:ext cx="1146761" cy="13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436046B8-8F32-C134-E6B7-6134E2391739}"/>
              </a:ext>
            </a:extLst>
          </p:cNvPr>
          <p:cNvSpPr txBox="1"/>
          <p:nvPr/>
        </p:nvSpPr>
        <p:spPr>
          <a:xfrm>
            <a:off x="6575835" y="2275148"/>
            <a:ext cx="879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File B</a:t>
            </a:r>
            <a:endParaRPr lang="zh-CN" altLang="en-US" sz="1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91582E9-0963-5F9E-8A87-E61C826F1803}"/>
              </a:ext>
            </a:extLst>
          </p:cNvPr>
          <p:cNvSpPr txBox="1"/>
          <p:nvPr/>
        </p:nvSpPr>
        <p:spPr>
          <a:xfrm>
            <a:off x="6554633" y="2738028"/>
            <a:ext cx="1146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FD_PIPE</a:t>
            </a:r>
            <a:endParaRPr lang="zh-CN" altLang="en-US" sz="1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E93F381-299D-1779-1B2A-7DDFFF2EB2F6}"/>
              </a:ext>
            </a:extLst>
          </p:cNvPr>
          <p:cNvSpPr txBox="1"/>
          <p:nvPr/>
        </p:nvSpPr>
        <p:spPr>
          <a:xfrm>
            <a:off x="6527018" y="3210349"/>
            <a:ext cx="1146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WRITEABLE</a:t>
            </a:r>
            <a:endParaRPr lang="zh-CN" altLang="en-US" sz="14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cxnSp>
        <p:nvCxnSpPr>
          <p:cNvPr id="35" name="连接符: 曲线 71">
            <a:extLst>
              <a:ext uri="{FF2B5EF4-FFF2-40B4-BE49-F238E27FC236}">
                <a16:creationId xmlns:a16="http://schemas.microsoft.com/office/drawing/2014/main" id="{EE63B711-5BC0-0728-E023-69FC6D537E49}"/>
              </a:ext>
            </a:extLst>
          </p:cNvPr>
          <p:cNvCxnSpPr>
            <a:cxnSpLocks/>
          </p:cNvCxnSpPr>
          <p:nvPr/>
        </p:nvCxnSpPr>
        <p:spPr>
          <a:xfrm flipH="1">
            <a:off x="5948993" y="4039530"/>
            <a:ext cx="10518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22BE146-8D95-EFFB-2766-1E4522FD5FC2}"/>
              </a:ext>
            </a:extLst>
          </p:cNvPr>
          <p:cNvCxnSpPr>
            <a:cxnSpLocks/>
            <a:endCxn id="29" idx="3"/>
          </p:cNvCxnSpPr>
          <p:nvPr/>
        </p:nvCxnSpPr>
        <p:spPr>
          <a:xfrm rot="10800000">
            <a:off x="7701102" y="2891918"/>
            <a:ext cx="1506831" cy="13313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53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" grpId="0"/>
      <p:bldP spid="28" grpId="0" animBg="1"/>
      <p:bldP spid="39" grpId="0"/>
      <p:bldP spid="41" grpId="0"/>
      <p:bldP spid="42" grpId="0"/>
      <p:bldP spid="67" grpId="0" animBg="1"/>
      <p:bldP spid="68" grpId="0"/>
      <p:bldP spid="3" grpId="0" build="p"/>
      <p:bldP spid="7" grpId="0" animBg="1"/>
      <p:bldP spid="22" grpId="0"/>
      <p:bldP spid="23" grpId="0" animBg="1"/>
      <p:bldP spid="26" grpId="0"/>
      <p:bldP spid="29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 cstate="screen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5"/>
          <p:cNvSpPr/>
          <p:nvPr/>
        </p:nvSpPr>
        <p:spPr bwMode="auto">
          <a:xfrm>
            <a:off x="771225" y="1754842"/>
            <a:ext cx="2935728" cy="487172"/>
          </a:xfrm>
          <a:custGeom>
            <a:avLst/>
            <a:gdLst>
              <a:gd name="T0" fmla="*/ 275 w 3851"/>
              <a:gd name="T1" fmla="*/ 0 h 633"/>
              <a:gd name="T2" fmla="*/ 3575 w 3851"/>
              <a:gd name="T3" fmla="*/ 0 h 633"/>
              <a:gd name="T4" fmla="*/ 3851 w 3851"/>
              <a:gd name="T5" fmla="*/ 633 h 633"/>
              <a:gd name="T6" fmla="*/ 0 w 3851"/>
              <a:gd name="T7" fmla="*/ 633 h 633"/>
              <a:gd name="T8" fmla="*/ 275 w 3851"/>
              <a:gd name="T9" fmla="*/ 0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51" h="633">
                <a:moveTo>
                  <a:pt x="275" y="0"/>
                </a:moveTo>
                <a:lnTo>
                  <a:pt x="3575" y="0"/>
                </a:lnTo>
                <a:lnTo>
                  <a:pt x="3851" y="633"/>
                </a:lnTo>
                <a:lnTo>
                  <a:pt x="0" y="633"/>
                </a:lnTo>
                <a:lnTo>
                  <a:pt x="275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3" name="Rectangle 6"/>
          <p:cNvSpPr>
            <a:spLocks noChangeArrowheads="1"/>
          </p:cNvSpPr>
          <p:nvPr/>
        </p:nvSpPr>
        <p:spPr bwMode="auto">
          <a:xfrm>
            <a:off x="1" y="2245189"/>
            <a:ext cx="12192000" cy="2196242"/>
          </a:xfrm>
          <a:prstGeom prst="rect">
            <a:avLst/>
          </a:prstGeom>
          <a:gradFill flip="none" rotWithShape="1">
            <a:gsLst>
              <a:gs pos="0">
                <a:srgbClr val="0C4994">
                  <a:shade val="30000"/>
                  <a:satMod val="115000"/>
                </a:srgbClr>
              </a:gs>
              <a:gs pos="50000">
                <a:srgbClr val="0C4994">
                  <a:shade val="67500"/>
                  <a:satMod val="115000"/>
                </a:srgbClr>
              </a:gs>
              <a:gs pos="100000">
                <a:srgbClr val="0C4994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4" name="Rectangle 7"/>
          <p:cNvSpPr>
            <a:spLocks noChangeArrowheads="1"/>
          </p:cNvSpPr>
          <p:nvPr/>
        </p:nvSpPr>
        <p:spPr bwMode="auto">
          <a:xfrm>
            <a:off x="980692" y="1754842"/>
            <a:ext cx="2513618" cy="2686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6" name="TextBox 25"/>
          <p:cNvSpPr txBox="1">
            <a:spLocks noChangeArrowheads="1"/>
          </p:cNvSpPr>
          <p:nvPr/>
        </p:nvSpPr>
        <p:spPr bwMode="auto">
          <a:xfrm>
            <a:off x="3409315" y="2989580"/>
            <a:ext cx="891730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第二部分：</a:t>
            </a: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pipealloc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() &amp; </a:t>
            </a:r>
            <a:r>
              <a:rPr lang="en-US" altLang="zh-CN" sz="4000" b="1" noProof="0" dirty="0" err="1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  <a:sym typeface="+mn-ea"/>
              </a:rPr>
              <a:t>pipeclose</a:t>
            </a:r>
            <a:r>
              <a:rPr lang="en-US" altLang="zh-CN" sz="4000" b="1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  <a:sym typeface="+mn-ea"/>
              </a:rPr>
              <a:t>()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FDCB34"/>
              </a:solidFill>
              <a:effectLst/>
              <a:uLnTx/>
              <a:uFillTx/>
              <a:latin typeface="JetBrains Mono ExtraBold" panose="02000009000000000000" pitchFamily="49" charset="0"/>
              <a:ea typeface="JetBrains Mono ExtraBold" panose="02000009000000000000" pitchFamily="49" charset="0"/>
              <a:cs typeface="JetBrains Mono ExtraBold" panose="02000009000000000000" pitchFamily="49" charset="0"/>
            </a:endParaRPr>
          </a:p>
        </p:txBody>
      </p:sp>
      <p:sp>
        <p:nvSpPr>
          <p:cNvPr id="10247" name="TextBox 26"/>
          <p:cNvSpPr txBox="1">
            <a:spLocks noChangeArrowheads="1"/>
          </p:cNvSpPr>
          <p:nvPr/>
        </p:nvSpPr>
        <p:spPr bwMode="auto">
          <a:xfrm>
            <a:off x="1198095" y="2245187"/>
            <a:ext cx="2089150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9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19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 descr="横版组合——透明.pn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8468075" y="127196"/>
            <a:ext cx="342953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ldLvl="0" animBg="1" autoUpdateAnimBg="0"/>
      <p:bldP spid="10244" grpId="0" bldLvl="0" animBg="1" autoUpdateAnimBg="0"/>
      <p:bldP spid="10246" grpId="0" autoUpdateAnimBg="0"/>
      <p:bldP spid="1024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259847"/>
            <a:ext cx="10515600" cy="3504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en-US" dirty="0"/>
              <a:t>初始化文件结构体、锁、管道结构体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pipe</a:t>
            </a:r>
            <a:r>
              <a:rPr lang="en-US" altLang="zh-CN" dirty="0" err="1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alloc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()函数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EBF981-CAF1-5B7A-B011-B5C59A08F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09" y="1767578"/>
            <a:ext cx="6624028" cy="4345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EDCBFFA-BC83-D59F-66F5-EBE29F49F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848" y="1767577"/>
            <a:ext cx="2846630" cy="43459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pip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eclose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()函数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E61B54-24C5-D61A-DED4-F8B7A30ED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09" y="1448474"/>
            <a:ext cx="5383490" cy="4517048"/>
          </a:xfrm>
          <a:prstGeom prst="rect">
            <a:avLst/>
          </a:prstGeom>
        </p:spPr>
      </p:pic>
      <p:sp>
        <p:nvSpPr>
          <p:cNvPr id="8" name="内容占位符 1">
            <a:extLst>
              <a:ext uri="{FF2B5EF4-FFF2-40B4-BE49-F238E27FC236}">
                <a16:creationId xmlns:a16="http://schemas.microsoft.com/office/drawing/2014/main" id="{355DDC32-92FC-9595-85FA-72A00C48BBAD}"/>
              </a:ext>
            </a:extLst>
          </p:cNvPr>
          <p:cNvSpPr txBox="1">
            <a:spLocks/>
          </p:cNvSpPr>
          <p:nvPr/>
        </p:nvSpPr>
        <p:spPr>
          <a:xfrm>
            <a:off x="6389726" y="1853076"/>
            <a:ext cx="5383490" cy="614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用来关闭管道的写端口或者读端口</a:t>
            </a:r>
            <a:endParaRPr lang="en-US" altLang="zh-CN" sz="2000" dirty="0"/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ED335A2B-537A-49B9-F63D-73709858094F}"/>
              </a:ext>
            </a:extLst>
          </p:cNvPr>
          <p:cNvSpPr txBox="1">
            <a:spLocks/>
          </p:cNvSpPr>
          <p:nvPr/>
        </p:nvSpPr>
        <p:spPr>
          <a:xfrm>
            <a:off x="6389726" y="2468071"/>
            <a:ext cx="5383490" cy="614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writeable = 1 </a:t>
            </a:r>
            <a:r>
              <a:rPr lang="zh-CN" altLang="en-US" sz="2000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关闭写端口</a:t>
            </a:r>
            <a:endParaRPr lang="en-US" altLang="zh-CN" sz="20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036F8630-BB59-AAF4-81D8-5879ED314DA0}"/>
              </a:ext>
            </a:extLst>
          </p:cNvPr>
          <p:cNvSpPr txBox="1">
            <a:spLocks/>
          </p:cNvSpPr>
          <p:nvPr/>
        </p:nvSpPr>
        <p:spPr>
          <a:xfrm>
            <a:off x="6389726" y="3092003"/>
            <a:ext cx="5383490" cy="614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writeable = 0 </a:t>
            </a:r>
            <a:r>
              <a:rPr lang="zh-CN" altLang="en-US" sz="2000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关闭读端口</a:t>
            </a:r>
            <a:endParaRPr lang="en-US" altLang="zh-CN" sz="20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F0D8DDAD-F0EC-F8D7-F511-A470A1D4F484}"/>
              </a:ext>
            </a:extLst>
          </p:cNvPr>
          <p:cNvSpPr txBox="1">
            <a:spLocks/>
          </p:cNvSpPr>
          <p:nvPr/>
        </p:nvSpPr>
        <p:spPr>
          <a:xfrm>
            <a:off x="6389726" y="3774935"/>
            <a:ext cx="5383490" cy="6149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如果读写端口均已关闭，就可以销毁这个管道了。</a:t>
            </a:r>
            <a:endParaRPr lang="en-US" altLang="zh-CN" sz="20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73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 cstate="screen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5"/>
          <p:cNvSpPr/>
          <p:nvPr/>
        </p:nvSpPr>
        <p:spPr bwMode="auto">
          <a:xfrm>
            <a:off x="771225" y="1754842"/>
            <a:ext cx="2935728" cy="487172"/>
          </a:xfrm>
          <a:custGeom>
            <a:avLst/>
            <a:gdLst>
              <a:gd name="T0" fmla="*/ 275 w 3851"/>
              <a:gd name="T1" fmla="*/ 0 h 633"/>
              <a:gd name="T2" fmla="*/ 3575 w 3851"/>
              <a:gd name="T3" fmla="*/ 0 h 633"/>
              <a:gd name="T4" fmla="*/ 3851 w 3851"/>
              <a:gd name="T5" fmla="*/ 633 h 633"/>
              <a:gd name="T6" fmla="*/ 0 w 3851"/>
              <a:gd name="T7" fmla="*/ 633 h 633"/>
              <a:gd name="T8" fmla="*/ 275 w 3851"/>
              <a:gd name="T9" fmla="*/ 0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51" h="633">
                <a:moveTo>
                  <a:pt x="275" y="0"/>
                </a:moveTo>
                <a:lnTo>
                  <a:pt x="3575" y="0"/>
                </a:lnTo>
                <a:lnTo>
                  <a:pt x="3851" y="633"/>
                </a:lnTo>
                <a:lnTo>
                  <a:pt x="0" y="633"/>
                </a:lnTo>
                <a:lnTo>
                  <a:pt x="275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3" name="Rectangle 6"/>
          <p:cNvSpPr>
            <a:spLocks noChangeArrowheads="1"/>
          </p:cNvSpPr>
          <p:nvPr/>
        </p:nvSpPr>
        <p:spPr bwMode="auto">
          <a:xfrm>
            <a:off x="0" y="2116076"/>
            <a:ext cx="12192000" cy="2196242"/>
          </a:xfrm>
          <a:prstGeom prst="rect">
            <a:avLst/>
          </a:prstGeom>
          <a:gradFill flip="none" rotWithShape="1">
            <a:gsLst>
              <a:gs pos="0">
                <a:srgbClr val="0C4994">
                  <a:shade val="30000"/>
                  <a:satMod val="115000"/>
                </a:srgbClr>
              </a:gs>
              <a:gs pos="50000">
                <a:srgbClr val="0C4994">
                  <a:shade val="67500"/>
                  <a:satMod val="115000"/>
                </a:srgbClr>
              </a:gs>
              <a:gs pos="100000">
                <a:srgbClr val="0C4994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4" name="Rectangle 7"/>
          <p:cNvSpPr>
            <a:spLocks noChangeArrowheads="1"/>
          </p:cNvSpPr>
          <p:nvPr/>
        </p:nvSpPr>
        <p:spPr bwMode="auto">
          <a:xfrm>
            <a:off x="980692" y="1754842"/>
            <a:ext cx="2513618" cy="2686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6" name="TextBox 25"/>
          <p:cNvSpPr txBox="1">
            <a:spLocks noChangeArrowheads="1"/>
          </p:cNvSpPr>
          <p:nvPr/>
        </p:nvSpPr>
        <p:spPr bwMode="auto">
          <a:xfrm>
            <a:off x="3810731" y="2803076"/>
            <a:ext cx="614247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第三部分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pipewrite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() &amp; </a:t>
            </a: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piperead</a:t>
            </a:r>
            <a:r>
              <a:rPr lang="en-US" altLang="zh-CN" sz="4000" b="1" dirty="0">
                <a:solidFill>
                  <a:srgbClr val="FDCB34"/>
                </a:solidFill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()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FDCB34"/>
              </a:solidFill>
              <a:effectLst/>
              <a:uLnTx/>
              <a:uFillTx/>
              <a:latin typeface="JetBrains Mono ExtraBold" panose="02000009000000000000" pitchFamily="49" charset="0"/>
              <a:ea typeface="JetBrains Mono ExtraBold" panose="02000009000000000000" pitchFamily="49" charset="0"/>
              <a:cs typeface="JetBrains Mono ExtraBold" panose="02000009000000000000" pitchFamily="49" charset="0"/>
            </a:endParaRPr>
          </a:p>
        </p:txBody>
      </p:sp>
      <p:sp>
        <p:nvSpPr>
          <p:cNvPr id="10247" name="TextBox 26"/>
          <p:cNvSpPr txBox="1">
            <a:spLocks noChangeArrowheads="1"/>
          </p:cNvSpPr>
          <p:nvPr/>
        </p:nvSpPr>
        <p:spPr bwMode="auto">
          <a:xfrm>
            <a:off x="1198095" y="2245187"/>
            <a:ext cx="2082621" cy="1938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9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19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 descr="横版组合——透明.pn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8468075" y="127196"/>
            <a:ext cx="342953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ldLvl="0" animBg="1" autoUpdateAnimBg="0"/>
      <p:bldP spid="10244" grpId="0" bldLvl="0" animBg="1" autoUpdateAnimBg="0"/>
      <p:bldP spid="10246" grpId="0" autoUpdateAnimBg="0"/>
      <p:bldP spid="1024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基础题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2-1:pipewrite()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函数语义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FD6778-D67D-397E-F241-8E2452FAB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09" y="1102463"/>
            <a:ext cx="5881355" cy="5646101"/>
          </a:xfrm>
          <a:prstGeom prst="rect">
            <a:avLst/>
          </a:prstGeom>
        </p:spPr>
      </p:pic>
      <p:sp>
        <p:nvSpPr>
          <p:cNvPr id="6" name="内容占位符 1">
            <a:extLst>
              <a:ext uri="{FF2B5EF4-FFF2-40B4-BE49-F238E27FC236}">
                <a16:creationId xmlns:a16="http://schemas.microsoft.com/office/drawing/2014/main" id="{D304BF94-F7AA-2AF3-ED90-CC2B79F6CF7D}"/>
              </a:ext>
            </a:extLst>
          </p:cNvPr>
          <p:cNvSpPr txBox="1">
            <a:spLocks/>
          </p:cNvSpPr>
          <p:nvPr/>
        </p:nvSpPr>
        <p:spPr>
          <a:xfrm>
            <a:off x="6808510" y="1267710"/>
            <a:ext cx="5383490" cy="69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对管道的读</a:t>
            </a:r>
            <a:r>
              <a:rPr lang="en-US" altLang="zh-CN" sz="2000" dirty="0"/>
              <a:t>/</a:t>
            </a:r>
            <a:r>
              <a:rPr lang="zh-CN" altLang="en-US" sz="2000" dirty="0"/>
              <a:t>写操作是互斥的</a:t>
            </a:r>
            <a:r>
              <a:rPr lang="en-US" altLang="zh-CN" sz="2000" dirty="0"/>
              <a:t>,</a:t>
            </a:r>
            <a:r>
              <a:rPr lang="zh-CN" altLang="en-US" sz="2000" dirty="0"/>
              <a:t>并且不允许多个进程同时读</a:t>
            </a:r>
            <a:r>
              <a:rPr lang="en-US" altLang="zh-CN" sz="2000" dirty="0"/>
              <a:t>/</a:t>
            </a:r>
            <a:r>
              <a:rPr lang="zh-CN" altLang="en-US" sz="2000" dirty="0"/>
              <a:t>写，因此第一步要获取管道的锁</a:t>
            </a:r>
            <a:endParaRPr lang="en-US" altLang="zh-CN" sz="2000" dirty="0"/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FE1BCAC8-0758-F1DE-9568-12640807198F}"/>
              </a:ext>
            </a:extLst>
          </p:cNvPr>
          <p:cNvSpPr txBox="1">
            <a:spLocks/>
          </p:cNvSpPr>
          <p:nvPr/>
        </p:nvSpPr>
        <p:spPr>
          <a:xfrm>
            <a:off x="6808510" y="2112063"/>
            <a:ext cx="5383490" cy="9023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首先检查读端口是否关闭或进程是否已被杀死</a:t>
            </a:r>
            <a:r>
              <a:rPr lang="en-US" altLang="zh-CN" sz="2000" dirty="0"/>
              <a:t>(</a:t>
            </a:r>
            <a:r>
              <a:rPr lang="zh-CN" altLang="en-US" sz="2000" dirty="0"/>
              <a:t>此时没有再写入数据的必要</a:t>
            </a:r>
            <a:r>
              <a:rPr lang="en-US" altLang="zh-CN" sz="2000" dirty="0"/>
              <a:t>)</a:t>
            </a:r>
            <a:r>
              <a:rPr lang="zh-CN" altLang="en-US" sz="2000" dirty="0"/>
              <a:t>，释放锁即可。</a:t>
            </a:r>
            <a:endParaRPr lang="en-US" altLang="zh-CN" sz="2000" dirty="0"/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C6DA624F-A663-C939-5660-1A7246836EAB}"/>
              </a:ext>
            </a:extLst>
          </p:cNvPr>
          <p:cNvSpPr txBox="1">
            <a:spLocks/>
          </p:cNvSpPr>
          <p:nvPr/>
        </p:nvSpPr>
        <p:spPr>
          <a:xfrm>
            <a:off x="6808510" y="2959661"/>
            <a:ext cx="5383490" cy="9023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在写的过程中，唯一的特殊情况是</a:t>
            </a:r>
            <a:r>
              <a:rPr lang="zh-CN" altLang="en-US" sz="2000" b="1" dirty="0"/>
              <a:t>已写满，</a:t>
            </a:r>
            <a:r>
              <a:rPr lang="zh-CN" altLang="en-US" sz="2000" dirty="0"/>
              <a:t>此时就需要唤醒正在休眠的读线程，并将写线程加入休眠队列</a:t>
            </a:r>
            <a:endParaRPr lang="en-US" altLang="zh-CN" sz="2000" dirty="0"/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DB17C382-2106-9BC9-0350-C83EBAC93795}"/>
              </a:ext>
            </a:extLst>
          </p:cNvPr>
          <p:cNvSpPr txBox="1">
            <a:spLocks/>
          </p:cNvSpPr>
          <p:nvPr/>
        </p:nvSpPr>
        <p:spPr>
          <a:xfrm>
            <a:off x="6808510" y="3861965"/>
            <a:ext cx="5383490" cy="9023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正常的写，就是使用</a:t>
            </a:r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copyin</a:t>
            </a:r>
            <a:r>
              <a:rPr lang="zh-CN" altLang="en-US" sz="2000" dirty="0"/>
              <a:t>函数从实际地址处取字节并写入缓冲区，注意</a:t>
            </a:r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data</a:t>
            </a:r>
            <a:r>
              <a:rPr lang="zh-CN" altLang="en-US" sz="2000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的</a:t>
            </a:r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index</a:t>
            </a:r>
            <a:r>
              <a:rPr lang="zh-CN" altLang="en-US" sz="2000" dirty="0"/>
              <a:t>，表明这是一个循环缓冲区。</a:t>
            </a:r>
            <a:endParaRPr lang="en-US" altLang="zh-CN" sz="2000" dirty="0"/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E1907080-A694-1C23-C5AF-047C6E44507E}"/>
              </a:ext>
            </a:extLst>
          </p:cNvPr>
          <p:cNvSpPr txBox="1">
            <a:spLocks/>
          </p:cNvSpPr>
          <p:nvPr/>
        </p:nvSpPr>
        <p:spPr>
          <a:xfrm>
            <a:off x="6808510" y="4768355"/>
            <a:ext cx="5383490" cy="902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写入完成后，就可以唤醒休眠的读进程，并释放锁。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17586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基础题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2-1:piperead()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的函数语义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7F1E916-96AE-4028-1B93-7C6043CA596F}"/>
              </a:ext>
            </a:extLst>
          </p:cNvPr>
          <p:cNvSpPr txBox="1">
            <a:spLocks/>
          </p:cNvSpPr>
          <p:nvPr/>
        </p:nvSpPr>
        <p:spPr>
          <a:xfrm>
            <a:off x="6696364" y="1290638"/>
            <a:ext cx="5383490" cy="416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在读的过程中，唯一的特殊情况是</a:t>
            </a:r>
            <a:r>
              <a:rPr lang="zh-CN" altLang="en-US" sz="2000" b="1" dirty="0"/>
              <a:t>已读空</a:t>
            </a:r>
            <a:endParaRPr lang="en-US" altLang="zh-CN" sz="2000" dirty="0"/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9DAF5B83-3B6E-0EFF-CF68-6205428D3D13}"/>
              </a:ext>
            </a:extLst>
          </p:cNvPr>
          <p:cNvSpPr txBox="1">
            <a:spLocks/>
          </p:cNvSpPr>
          <p:nvPr/>
        </p:nvSpPr>
        <p:spPr>
          <a:xfrm>
            <a:off x="6696364" y="1881467"/>
            <a:ext cx="5383490" cy="416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Sleep / Wakeup </a:t>
            </a:r>
            <a:r>
              <a:rPr lang="zh-CN" altLang="en-US" sz="2000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的条件</a:t>
            </a:r>
            <a:endParaRPr lang="en-US" altLang="zh-CN" sz="20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326C56E-4CA5-1C75-77AE-BC5D7E8C8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2" y="1132808"/>
            <a:ext cx="6385988" cy="5446017"/>
          </a:xfrm>
          <a:prstGeom prst="rect">
            <a:avLst/>
          </a:prstGeom>
        </p:spPr>
      </p:pic>
      <p:sp>
        <p:nvSpPr>
          <p:cNvPr id="5" name="内容占位符 1">
            <a:extLst>
              <a:ext uri="{FF2B5EF4-FFF2-40B4-BE49-F238E27FC236}">
                <a16:creationId xmlns:a16="http://schemas.microsoft.com/office/drawing/2014/main" id="{947DFD8D-0119-63AC-A6D5-0172774D8C67}"/>
              </a:ext>
            </a:extLst>
          </p:cNvPr>
          <p:cNvSpPr txBox="1">
            <a:spLocks/>
          </p:cNvSpPr>
          <p:nvPr/>
        </p:nvSpPr>
        <p:spPr>
          <a:xfrm>
            <a:off x="6610698" y="2502641"/>
            <a:ext cx="5383490" cy="65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正常的读，就是使用</a:t>
            </a:r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copyout</a:t>
            </a:r>
            <a:r>
              <a:rPr lang="zh-CN" altLang="en-US" sz="2000" dirty="0"/>
              <a:t>函数从缓冲区内取字节并写入实际内存地址。</a:t>
            </a:r>
            <a:endParaRPr lang="en-US" altLang="zh-CN" sz="2000" dirty="0"/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2B180C41-D988-DADC-AB89-BE231E6AE88A}"/>
              </a:ext>
            </a:extLst>
          </p:cNvPr>
          <p:cNvSpPr txBox="1">
            <a:spLocks/>
          </p:cNvSpPr>
          <p:nvPr/>
        </p:nvSpPr>
        <p:spPr>
          <a:xfrm>
            <a:off x="6610698" y="3229701"/>
            <a:ext cx="5383490" cy="717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读取完成后，就可以唤醒休眠的读进程，并释放锁。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60415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 cstate="screen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5"/>
          <p:cNvSpPr/>
          <p:nvPr/>
        </p:nvSpPr>
        <p:spPr bwMode="auto">
          <a:xfrm>
            <a:off x="771225" y="1754842"/>
            <a:ext cx="2935728" cy="487172"/>
          </a:xfrm>
          <a:custGeom>
            <a:avLst/>
            <a:gdLst>
              <a:gd name="T0" fmla="*/ 275 w 3851"/>
              <a:gd name="T1" fmla="*/ 0 h 633"/>
              <a:gd name="T2" fmla="*/ 3575 w 3851"/>
              <a:gd name="T3" fmla="*/ 0 h 633"/>
              <a:gd name="T4" fmla="*/ 3851 w 3851"/>
              <a:gd name="T5" fmla="*/ 633 h 633"/>
              <a:gd name="T6" fmla="*/ 0 w 3851"/>
              <a:gd name="T7" fmla="*/ 633 h 633"/>
              <a:gd name="T8" fmla="*/ 275 w 3851"/>
              <a:gd name="T9" fmla="*/ 0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51" h="633">
                <a:moveTo>
                  <a:pt x="275" y="0"/>
                </a:moveTo>
                <a:lnTo>
                  <a:pt x="3575" y="0"/>
                </a:lnTo>
                <a:lnTo>
                  <a:pt x="3851" y="633"/>
                </a:lnTo>
                <a:lnTo>
                  <a:pt x="0" y="633"/>
                </a:lnTo>
                <a:lnTo>
                  <a:pt x="275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3" name="Rectangle 6"/>
          <p:cNvSpPr>
            <a:spLocks noChangeArrowheads="1"/>
          </p:cNvSpPr>
          <p:nvPr/>
        </p:nvSpPr>
        <p:spPr bwMode="auto">
          <a:xfrm>
            <a:off x="0" y="2116076"/>
            <a:ext cx="12192000" cy="2196242"/>
          </a:xfrm>
          <a:prstGeom prst="rect">
            <a:avLst/>
          </a:prstGeom>
          <a:gradFill flip="none" rotWithShape="1">
            <a:gsLst>
              <a:gs pos="0">
                <a:srgbClr val="0C4994">
                  <a:shade val="30000"/>
                  <a:satMod val="115000"/>
                </a:srgbClr>
              </a:gs>
              <a:gs pos="50000">
                <a:srgbClr val="0C4994">
                  <a:shade val="67500"/>
                  <a:satMod val="115000"/>
                </a:srgbClr>
              </a:gs>
              <a:gs pos="100000">
                <a:srgbClr val="0C4994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4" name="Rectangle 7"/>
          <p:cNvSpPr>
            <a:spLocks noChangeArrowheads="1"/>
          </p:cNvSpPr>
          <p:nvPr/>
        </p:nvSpPr>
        <p:spPr bwMode="auto">
          <a:xfrm>
            <a:off x="980692" y="1754842"/>
            <a:ext cx="2513618" cy="2686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6" name="TextBox 25"/>
          <p:cNvSpPr txBox="1">
            <a:spLocks noChangeArrowheads="1"/>
          </p:cNvSpPr>
          <p:nvPr/>
        </p:nvSpPr>
        <p:spPr bwMode="auto">
          <a:xfrm>
            <a:off x="3810731" y="2803076"/>
            <a:ext cx="61424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zh-CN" altLang="en-US" sz="4000" b="1" noProof="0" dirty="0">
                <a:solidFill>
                  <a:srgbClr val="FDC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部分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动画演示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FDCB34"/>
              </a:solidFill>
              <a:effectLst/>
              <a:uLnTx/>
              <a:uFillTx/>
              <a:latin typeface="JetBrains Mono ExtraBold" panose="02000009000000000000" pitchFamily="49" charset="0"/>
              <a:ea typeface="JetBrains Mono ExtraBold" panose="02000009000000000000" pitchFamily="49" charset="0"/>
              <a:cs typeface="JetBrains Mono ExtraBold" panose="02000009000000000000" pitchFamily="49" charset="0"/>
            </a:endParaRPr>
          </a:p>
        </p:txBody>
      </p:sp>
      <p:sp>
        <p:nvSpPr>
          <p:cNvPr id="10247" name="TextBox 26"/>
          <p:cNvSpPr txBox="1">
            <a:spLocks noChangeArrowheads="1"/>
          </p:cNvSpPr>
          <p:nvPr/>
        </p:nvSpPr>
        <p:spPr bwMode="auto">
          <a:xfrm>
            <a:off x="1198095" y="2245187"/>
            <a:ext cx="2082621" cy="1938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9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en-US" altLang="zh-CN" sz="1199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0" lang="zh-CN" altLang="en-US" sz="119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 descr="横版组合——透明.pn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8468075" y="127196"/>
            <a:ext cx="342953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102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ldLvl="0" animBg="1" autoUpdateAnimBg="0"/>
      <p:bldP spid="10244" grpId="0" bldLvl="0" animBg="1" autoUpdateAnimBg="0"/>
      <p:bldP spid="10246" grpId="0" autoUpdateAnimBg="0"/>
      <p:bldP spid="1024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基础题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2-1/2-2: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管道动画演示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328757-14A3-B9A7-B19D-0F7E86AC4DE5}"/>
              </a:ext>
            </a:extLst>
          </p:cNvPr>
          <p:cNvSpPr/>
          <p:nvPr/>
        </p:nvSpPr>
        <p:spPr>
          <a:xfrm>
            <a:off x="976782" y="2888882"/>
            <a:ext cx="9617825" cy="10969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BUFFER</a:t>
            </a:r>
            <a:endParaRPr lang="zh-CN" altLang="en-US" dirty="0">
              <a:solidFill>
                <a:schemeClr val="tx1"/>
              </a:solidFill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3C19B11-E53F-F19A-4709-AB0269C7DC4B}"/>
              </a:ext>
            </a:extLst>
          </p:cNvPr>
          <p:cNvCxnSpPr>
            <a:cxnSpLocks/>
          </p:cNvCxnSpPr>
          <p:nvPr/>
        </p:nvCxnSpPr>
        <p:spPr>
          <a:xfrm flipH="1">
            <a:off x="1058070" y="2385289"/>
            <a:ext cx="764771" cy="440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C160E24-D0A3-1C59-66E4-A820E0C2291A}"/>
              </a:ext>
            </a:extLst>
          </p:cNvPr>
          <p:cNvCxnSpPr>
            <a:cxnSpLocks/>
          </p:cNvCxnSpPr>
          <p:nvPr/>
        </p:nvCxnSpPr>
        <p:spPr>
          <a:xfrm flipH="1">
            <a:off x="976782" y="2030579"/>
            <a:ext cx="81288" cy="843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FD3C93B-8F9B-032D-5133-716CEED3FA59}"/>
              </a:ext>
            </a:extLst>
          </p:cNvPr>
          <p:cNvSpPr txBox="1"/>
          <p:nvPr/>
        </p:nvSpPr>
        <p:spPr>
          <a:xfrm>
            <a:off x="1118098" y="1759473"/>
            <a:ext cx="1080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nread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B50D1D-DC61-37E0-07A3-DA39493CE329}"/>
              </a:ext>
            </a:extLst>
          </p:cNvPr>
          <p:cNvSpPr txBox="1"/>
          <p:nvPr/>
        </p:nvSpPr>
        <p:spPr>
          <a:xfrm>
            <a:off x="1911486" y="2030579"/>
            <a:ext cx="1288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nwrite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87C256D5-9D10-606A-552E-9A7C41824F8C}"/>
              </a:ext>
            </a:extLst>
          </p:cNvPr>
          <p:cNvSpPr txBox="1">
            <a:spLocks/>
          </p:cNvSpPr>
          <p:nvPr/>
        </p:nvSpPr>
        <p:spPr>
          <a:xfrm>
            <a:off x="896297" y="1387030"/>
            <a:ext cx="5075993" cy="37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尚未进行任何读写操作时</a:t>
            </a:r>
            <a:endParaRPr lang="en-US" altLang="zh-CN"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4E15BF-FFDB-C85E-6D5E-0CF96700D52E}"/>
              </a:ext>
            </a:extLst>
          </p:cNvPr>
          <p:cNvSpPr/>
          <p:nvPr/>
        </p:nvSpPr>
        <p:spPr>
          <a:xfrm>
            <a:off x="6553755" y="4175489"/>
            <a:ext cx="1423696" cy="2095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AD564B-1EE4-375E-CDB6-196D0509169A}"/>
              </a:ext>
            </a:extLst>
          </p:cNvPr>
          <p:cNvSpPr txBox="1"/>
          <p:nvPr/>
        </p:nvSpPr>
        <p:spPr>
          <a:xfrm>
            <a:off x="6365356" y="638248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读进程休眠队列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9F4F986-F5BC-8D55-D4F4-60D0B6398D65}"/>
              </a:ext>
            </a:extLst>
          </p:cNvPr>
          <p:cNvCxnSpPr/>
          <p:nvPr/>
        </p:nvCxnSpPr>
        <p:spPr>
          <a:xfrm>
            <a:off x="6553755" y="4579644"/>
            <a:ext cx="14236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1AE232B-229F-C68E-90D0-615096871486}"/>
              </a:ext>
            </a:extLst>
          </p:cNvPr>
          <p:cNvCxnSpPr/>
          <p:nvPr/>
        </p:nvCxnSpPr>
        <p:spPr>
          <a:xfrm>
            <a:off x="6553755" y="5100641"/>
            <a:ext cx="14236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95E2B05-CC14-112D-F251-9880F30B6E61}"/>
              </a:ext>
            </a:extLst>
          </p:cNvPr>
          <p:cNvCxnSpPr>
            <a:cxnSpLocks/>
          </p:cNvCxnSpPr>
          <p:nvPr/>
        </p:nvCxnSpPr>
        <p:spPr>
          <a:xfrm flipH="1">
            <a:off x="8165849" y="4079654"/>
            <a:ext cx="1989655" cy="1661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73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/>
      <p:bldP spid="21" grpId="0"/>
      <p:bldP spid="4" grpId="0"/>
      <p:bldP spid="10" grpId="0" animBg="1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基础题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2-1/2-2: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管道动画演示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328757-14A3-B9A7-B19D-0F7E86AC4DE5}"/>
              </a:ext>
            </a:extLst>
          </p:cNvPr>
          <p:cNvSpPr/>
          <p:nvPr/>
        </p:nvSpPr>
        <p:spPr>
          <a:xfrm>
            <a:off x="4501714" y="2858900"/>
            <a:ext cx="6131221" cy="10215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3C19B11-E53F-F19A-4709-AB0269C7DC4B}"/>
              </a:ext>
            </a:extLst>
          </p:cNvPr>
          <p:cNvCxnSpPr>
            <a:cxnSpLocks/>
          </p:cNvCxnSpPr>
          <p:nvPr/>
        </p:nvCxnSpPr>
        <p:spPr>
          <a:xfrm flipH="1">
            <a:off x="5321882" y="2329971"/>
            <a:ext cx="5938" cy="292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C160E24-D0A3-1C59-66E4-A820E0C2291A}"/>
              </a:ext>
            </a:extLst>
          </p:cNvPr>
          <p:cNvCxnSpPr>
            <a:cxnSpLocks/>
          </p:cNvCxnSpPr>
          <p:nvPr/>
        </p:nvCxnSpPr>
        <p:spPr>
          <a:xfrm flipH="1">
            <a:off x="1143534" y="1883791"/>
            <a:ext cx="631" cy="560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FD3C93B-8F9B-032D-5133-716CEED3FA59}"/>
              </a:ext>
            </a:extLst>
          </p:cNvPr>
          <p:cNvSpPr txBox="1"/>
          <p:nvPr/>
        </p:nvSpPr>
        <p:spPr>
          <a:xfrm>
            <a:off x="1204193" y="1612685"/>
            <a:ext cx="1072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nread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B50D1D-DC61-37E0-07A3-DA39493CE329}"/>
              </a:ext>
            </a:extLst>
          </p:cNvPr>
          <p:cNvSpPr txBox="1"/>
          <p:nvPr/>
        </p:nvSpPr>
        <p:spPr>
          <a:xfrm>
            <a:off x="5327820" y="2045321"/>
            <a:ext cx="1278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nwrite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87C256D5-9D10-606A-552E-9A7C41824F8C}"/>
              </a:ext>
            </a:extLst>
          </p:cNvPr>
          <p:cNvSpPr txBox="1">
            <a:spLocks/>
          </p:cNvSpPr>
          <p:nvPr/>
        </p:nvSpPr>
        <p:spPr>
          <a:xfrm>
            <a:off x="896297" y="1387030"/>
            <a:ext cx="5075993" cy="37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写入一定数据后</a:t>
            </a:r>
            <a:endParaRPr lang="en-US" altLang="zh-CN" sz="2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F6C89F-36C1-82BC-4A85-2F0B6E54A29A}"/>
              </a:ext>
            </a:extLst>
          </p:cNvPr>
          <p:cNvSpPr/>
          <p:nvPr/>
        </p:nvSpPr>
        <p:spPr>
          <a:xfrm>
            <a:off x="1062878" y="2858900"/>
            <a:ext cx="3438836" cy="102154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已写入缓冲区</a:t>
            </a:r>
            <a:endParaRPr lang="zh-CN" altLang="en-US" dirty="0">
              <a:solidFill>
                <a:schemeClr val="bg1"/>
              </a:solidFill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35B756-51C6-CD6F-963C-8EE0E319B6DF}"/>
              </a:ext>
            </a:extLst>
          </p:cNvPr>
          <p:cNvSpPr/>
          <p:nvPr/>
        </p:nvSpPr>
        <p:spPr>
          <a:xfrm>
            <a:off x="3709788" y="4215950"/>
            <a:ext cx="1423696" cy="2095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A08AB6-3279-21D4-5634-B1DE85101BE4}"/>
              </a:ext>
            </a:extLst>
          </p:cNvPr>
          <p:cNvSpPr txBox="1"/>
          <p:nvPr/>
        </p:nvSpPr>
        <p:spPr>
          <a:xfrm>
            <a:off x="3521389" y="642294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读进程休眠队列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D00609A-2ABB-B14B-815A-E44A57341561}"/>
              </a:ext>
            </a:extLst>
          </p:cNvPr>
          <p:cNvCxnSpPr/>
          <p:nvPr/>
        </p:nvCxnSpPr>
        <p:spPr>
          <a:xfrm>
            <a:off x="3709788" y="4620105"/>
            <a:ext cx="14236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3D3F5C6-F011-B10E-F678-D4D8DF84D5DC}"/>
              </a:ext>
            </a:extLst>
          </p:cNvPr>
          <p:cNvCxnSpPr/>
          <p:nvPr/>
        </p:nvCxnSpPr>
        <p:spPr>
          <a:xfrm>
            <a:off x="3709788" y="5141102"/>
            <a:ext cx="14236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99E5B70-00E9-7968-5969-C51A506846B1}"/>
              </a:ext>
            </a:extLst>
          </p:cNvPr>
          <p:cNvCxnSpPr>
            <a:cxnSpLocks/>
          </p:cNvCxnSpPr>
          <p:nvPr/>
        </p:nvCxnSpPr>
        <p:spPr>
          <a:xfrm flipH="1" flipV="1">
            <a:off x="1505119" y="4293913"/>
            <a:ext cx="1929174" cy="1063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45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/>
      <p:bldP spid="21" grpId="0"/>
      <p:bldP spid="4" grpId="0"/>
      <p:bldP spid="2" grpId="0" animBg="1"/>
      <p:bldP spid="7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基础题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2-1/2-2: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管道动画演示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D190C0-2D44-27B4-72AC-B726BAB02C14}"/>
              </a:ext>
            </a:extLst>
          </p:cNvPr>
          <p:cNvSpPr/>
          <p:nvPr/>
        </p:nvSpPr>
        <p:spPr>
          <a:xfrm>
            <a:off x="882032" y="2704874"/>
            <a:ext cx="10131227" cy="10215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已写入缓冲区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3C19B11-E53F-F19A-4709-AB0269C7DC4B}"/>
              </a:ext>
            </a:extLst>
          </p:cNvPr>
          <p:cNvCxnSpPr>
            <a:cxnSpLocks/>
          </p:cNvCxnSpPr>
          <p:nvPr/>
        </p:nvCxnSpPr>
        <p:spPr>
          <a:xfrm flipH="1">
            <a:off x="882032" y="1957030"/>
            <a:ext cx="897076" cy="601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C160E24-D0A3-1C59-66E4-A820E0C2291A}"/>
              </a:ext>
            </a:extLst>
          </p:cNvPr>
          <p:cNvCxnSpPr>
            <a:cxnSpLocks/>
          </p:cNvCxnSpPr>
          <p:nvPr/>
        </p:nvCxnSpPr>
        <p:spPr>
          <a:xfrm flipH="1">
            <a:off x="11013259" y="2010680"/>
            <a:ext cx="132710" cy="641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FD3C93B-8F9B-032D-5133-716CEED3FA59}"/>
              </a:ext>
            </a:extLst>
          </p:cNvPr>
          <p:cNvSpPr txBox="1"/>
          <p:nvPr/>
        </p:nvSpPr>
        <p:spPr>
          <a:xfrm>
            <a:off x="1779108" y="1610570"/>
            <a:ext cx="1080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nread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B50D1D-DC61-37E0-07A3-DA39493CE329}"/>
              </a:ext>
            </a:extLst>
          </p:cNvPr>
          <p:cNvSpPr txBox="1"/>
          <p:nvPr/>
        </p:nvSpPr>
        <p:spPr>
          <a:xfrm>
            <a:off x="8083317" y="1664788"/>
            <a:ext cx="4108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nwrite</a:t>
            </a:r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== </a:t>
            </a:r>
            <a:r>
              <a:rPr lang="en-US" altLang="zh-CN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nread</a:t>
            </a:r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 + BUFFERSIZE</a:t>
            </a:r>
            <a:endParaRPr lang="zh-CN" altLang="en-US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  <a:p>
            <a:endParaRPr lang="zh-CN" altLang="en-US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7CC201-07D4-203B-C02E-CB7B332FAF6A}"/>
              </a:ext>
            </a:extLst>
          </p:cNvPr>
          <p:cNvSpPr txBox="1">
            <a:spLocks/>
          </p:cNvSpPr>
          <p:nvPr/>
        </p:nvSpPr>
        <p:spPr>
          <a:xfrm>
            <a:off x="819863" y="1318527"/>
            <a:ext cx="5075993" cy="37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缓冲区满</a:t>
            </a:r>
            <a:endParaRPr lang="en-US" altLang="zh-CN" sz="2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047E11-8CBF-C041-D74F-40A0BBB63068}"/>
              </a:ext>
            </a:extLst>
          </p:cNvPr>
          <p:cNvSpPr/>
          <p:nvPr/>
        </p:nvSpPr>
        <p:spPr>
          <a:xfrm>
            <a:off x="3074815" y="3903839"/>
            <a:ext cx="1423696" cy="23669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AB1FBD-4C46-C8EB-D9DC-7645581E2030}"/>
              </a:ext>
            </a:extLst>
          </p:cNvPr>
          <p:cNvSpPr/>
          <p:nvPr/>
        </p:nvSpPr>
        <p:spPr>
          <a:xfrm>
            <a:off x="6553755" y="3903839"/>
            <a:ext cx="1423696" cy="23669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761D65-EB08-11BA-B038-89C2CAAB8995}"/>
              </a:ext>
            </a:extLst>
          </p:cNvPr>
          <p:cNvSpPr txBox="1"/>
          <p:nvPr/>
        </p:nvSpPr>
        <p:spPr>
          <a:xfrm>
            <a:off x="2859762" y="643129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读进程休眠队列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9EBFF5-78C4-52EA-0C94-5F5AF639D0FC}"/>
              </a:ext>
            </a:extLst>
          </p:cNvPr>
          <p:cNvSpPr txBox="1"/>
          <p:nvPr/>
        </p:nvSpPr>
        <p:spPr>
          <a:xfrm>
            <a:off x="6365356" y="643129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写进程休眠队列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8F8CF5F-D274-64C4-1F61-D370F1DCCF3A}"/>
              </a:ext>
            </a:extLst>
          </p:cNvPr>
          <p:cNvCxnSpPr/>
          <p:nvPr/>
        </p:nvCxnSpPr>
        <p:spPr>
          <a:xfrm>
            <a:off x="3074815" y="4434435"/>
            <a:ext cx="14236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18340FF-41B8-E771-F78F-66CED8E09B9A}"/>
              </a:ext>
            </a:extLst>
          </p:cNvPr>
          <p:cNvCxnSpPr/>
          <p:nvPr/>
        </p:nvCxnSpPr>
        <p:spPr>
          <a:xfrm>
            <a:off x="3074815" y="4841696"/>
            <a:ext cx="14236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B4B0612-353F-B808-2010-A345797EA430}"/>
              </a:ext>
            </a:extLst>
          </p:cNvPr>
          <p:cNvCxnSpPr/>
          <p:nvPr/>
        </p:nvCxnSpPr>
        <p:spPr>
          <a:xfrm>
            <a:off x="6553755" y="4361159"/>
            <a:ext cx="14236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2EAEA4E-868F-BD04-2997-1DD3F4928F5F}"/>
              </a:ext>
            </a:extLst>
          </p:cNvPr>
          <p:cNvCxnSpPr/>
          <p:nvPr/>
        </p:nvCxnSpPr>
        <p:spPr>
          <a:xfrm>
            <a:off x="6553755" y="4841696"/>
            <a:ext cx="14236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2AECDC3-9BAD-C917-8EC2-DC0ECBC792D1}"/>
              </a:ext>
            </a:extLst>
          </p:cNvPr>
          <p:cNvCxnSpPr>
            <a:cxnSpLocks/>
          </p:cNvCxnSpPr>
          <p:nvPr/>
        </p:nvCxnSpPr>
        <p:spPr>
          <a:xfrm flipH="1">
            <a:off x="8221508" y="3981281"/>
            <a:ext cx="2379058" cy="906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AE342FB9-3D6A-753C-B69C-77FB396CEC39}"/>
              </a:ext>
            </a:extLst>
          </p:cNvPr>
          <p:cNvSpPr txBox="1"/>
          <p:nvPr/>
        </p:nvSpPr>
        <p:spPr>
          <a:xfrm>
            <a:off x="7977451" y="5384044"/>
            <a:ext cx="4320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当前写进程加入休眠队列</a:t>
            </a:r>
            <a:endParaRPr lang="en-US" altLang="zh-CN" dirty="0"/>
          </a:p>
          <a:p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sleep(&amp;pi-&gt;</a:t>
            </a:r>
            <a:r>
              <a:rPr lang="en-US" altLang="zh-CN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nwrite</a:t>
            </a:r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, &amp;pi-&gt;lock);</a:t>
            </a:r>
            <a:endParaRPr lang="zh-CN" altLang="en-US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11C1331-6583-B47E-7AE2-9F8593F90487}"/>
              </a:ext>
            </a:extLst>
          </p:cNvPr>
          <p:cNvCxnSpPr>
            <a:cxnSpLocks/>
          </p:cNvCxnSpPr>
          <p:nvPr/>
        </p:nvCxnSpPr>
        <p:spPr>
          <a:xfrm flipH="1" flipV="1">
            <a:off x="720191" y="3778981"/>
            <a:ext cx="1893536" cy="1760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F9C7188C-BEB0-DE3A-A3D6-63F60930A2E4}"/>
              </a:ext>
            </a:extLst>
          </p:cNvPr>
          <p:cNvSpPr txBox="1"/>
          <p:nvPr/>
        </p:nvSpPr>
        <p:spPr>
          <a:xfrm>
            <a:off x="270842" y="5796316"/>
            <a:ext cx="2803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唤醒休眠队列中的读进程</a:t>
            </a:r>
            <a:endParaRPr lang="en-US" altLang="zh-CN" dirty="0"/>
          </a:p>
          <a:p>
            <a:r>
              <a:rPr lang="en-US" altLang="zh-CN" b="0" dirty="0">
                <a:effectLst/>
                <a:latin typeface="JetBrains Mono Medium" panose="02000009000000000000" pitchFamily="49" charset="0"/>
              </a:rPr>
              <a:t>wakeup(&amp;pi-&gt;</a:t>
            </a:r>
            <a:r>
              <a:rPr lang="en-US" altLang="zh-CN" b="0" dirty="0" err="1">
                <a:effectLst/>
                <a:latin typeface="JetBrains Mono Medium" panose="02000009000000000000" pitchFamily="49" charset="0"/>
              </a:rPr>
              <a:t>nread</a:t>
            </a:r>
            <a:r>
              <a:rPr lang="en-US" altLang="zh-CN" b="0" dirty="0">
                <a:effectLst/>
                <a:latin typeface="JetBrains Mono Medium" panose="02000009000000000000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96759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0" grpId="0"/>
      <p:bldP spid="21" grpId="0"/>
      <p:bldP spid="2" grpId="0"/>
      <p:bldP spid="7" grpId="0" animBg="1"/>
      <p:bldP spid="10" grpId="0" animBg="1"/>
      <p:bldP spid="11" grpId="0"/>
      <p:bldP spid="12" grpId="0"/>
      <p:bldP spid="32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基础题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2-1/2-2: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管道动画演示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328757-14A3-B9A7-B19D-0F7E86AC4DE5}"/>
              </a:ext>
            </a:extLst>
          </p:cNvPr>
          <p:cNvSpPr/>
          <p:nvPr/>
        </p:nvSpPr>
        <p:spPr>
          <a:xfrm>
            <a:off x="926685" y="2411143"/>
            <a:ext cx="2679125" cy="10178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30767F-AFD1-1FF3-8FB1-785A364AD67A}"/>
              </a:ext>
            </a:extLst>
          </p:cNvPr>
          <p:cNvSpPr/>
          <p:nvPr/>
        </p:nvSpPr>
        <p:spPr>
          <a:xfrm>
            <a:off x="3605810" y="2411144"/>
            <a:ext cx="6630614" cy="10178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3C19B11-E53F-F19A-4709-AB0269C7DC4B}"/>
              </a:ext>
            </a:extLst>
          </p:cNvPr>
          <p:cNvCxnSpPr>
            <a:cxnSpLocks/>
          </p:cNvCxnSpPr>
          <p:nvPr/>
        </p:nvCxnSpPr>
        <p:spPr>
          <a:xfrm flipH="1">
            <a:off x="3605810" y="1469006"/>
            <a:ext cx="194762" cy="874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C160E24-D0A3-1C59-66E4-A820E0C2291A}"/>
              </a:ext>
            </a:extLst>
          </p:cNvPr>
          <p:cNvCxnSpPr>
            <a:cxnSpLocks/>
          </p:cNvCxnSpPr>
          <p:nvPr/>
        </p:nvCxnSpPr>
        <p:spPr>
          <a:xfrm flipH="1">
            <a:off x="3703191" y="1877592"/>
            <a:ext cx="762932" cy="465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FD3C93B-8F9B-032D-5133-716CEED3FA59}"/>
              </a:ext>
            </a:extLst>
          </p:cNvPr>
          <p:cNvSpPr txBox="1"/>
          <p:nvPr/>
        </p:nvSpPr>
        <p:spPr>
          <a:xfrm>
            <a:off x="3800572" y="1208165"/>
            <a:ext cx="1080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nread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B50D1D-DC61-37E0-07A3-DA39493CE329}"/>
              </a:ext>
            </a:extLst>
          </p:cNvPr>
          <p:cNvSpPr txBox="1"/>
          <p:nvPr/>
        </p:nvSpPr>
        <p:spPr>
          <a:xfrm>
            <a:off x="4563504" y="1642883"/>
            <a:ext cx="1288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nwrite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7CC201-07D4-203B-C02E-CB7B332FAF6A}"/>
              </a:ext>
            </a:extLst>
          </p:cNvPr>
          <p:cNvSpPr txBox="1">
            <a:spLocks/>
          </p:cNvSpPr>
          <p:nvPr/>
        </p:nvSpPr>
        <p:spPr>
          <a:xfrm>
            <a:off x="819863" y="1318527"/>
            <a:ext cx="5075993" cy="37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缓冲区空</a:t>
            </a:r>
            <a:endParaRPr lang="en-US" altLang="zh-CN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A7FCD5-B82A-0FDD-E917-819C27D19E96}"/>
              </a:ext>
            </a:extLst>
          </p:cNvPr>
          <p:cNvSpPr txBox="1"/>
          <p:nvPr/>
        </p:nvSpPr>
        <p:spPr>
          <a:xfrm>
            <a:off x="5613904" y="1642883"/>
            <a:ext cx="1367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== </a:t>
            </a:r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nread</a:t>
            </a:r>
            <a:endParaRPr lang="zh-CN" altLang="en-US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25AEE9-DE8A-D03B-5324-DD33616ACC80}"/>
              </a:ext>
            </a:extLst>
          </p:cNvPr>
          <p:cNvSpPr/>
          <p:nvPr/>
        </p:nvSpPr>
        <p:spPr>
          <a:xfrm>
            <a:off x="3074815" y="3903839"/>
            <a:ext cx="1423696" cy="23669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6CB46E8-6E06-3FB9-F355-433074F9C763}"/>
              </a:ext>
            </a:extLst>
          </p:cNvPr>
          <p:cNvSpPr txBox="1"/>
          <p:nvPr/>
        </p:nvSpPr>
        <p:spPr>
          <a:xfrm>
            <a:off x="2859762" y="643129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写进程休眠队列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A3D6DA2-BE66-72AD-CF4E-7DC7D03A598C}"/>
              </a:ext>
            </a:extLst>
          </p:cNvPr>
          <p:cNvCxnSpPr/>
          <p:nvPr/>
        </p:nvCxnSpPr>
        <p:spPr>
          <a:xfrm>
            <a:off x="3074815" y="4434435"/>
            <a:ext cx="14236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901A5D2-013D-B1B7-40CB-2E08C0504A98}"/>
              </a:ext>
            </a:extLst>
          </p:cNvPr>
          <p:cNvCxnSpPr/>
          <p:nvPr/>
        </p:nvCxnSpPr>
        <p:spPr>
          <a:xfrm>
            <a:off x="3074815" y="4841696"/>
            <a:ext cx="14236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E83B391-4080-66C3-4446-7ED47F2FA38B}"/>
              </a:ext>
            </a:extLst>
          </p:cNvPr>
          <p:cNvSpPr txBox="1"/>
          <p:nvPr/>
        </p:nvSpPr>
        <p:spPr>
          <a:xfrm>
            <a:off x="214198" y="5624428"/>
            <a:ext cx="2803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唤醒休眠队列中的写进程</a:t>
            </a:r>
            <a:endParaRPr lang="en-US" altLang="zh-CN" dirty="0"/>
          </a:p>
          <a:p>
            <a:r>
              <a:rPr lang="en-US" altLang="zh-CN" b="0" dirty="0">
                <a:effectLst/>
                <a:latin typeface="JetBrains Mono Medium" panose="02000009000000000000" pitchFamily="49" charset="0"/>
              </a:rPr>
              <a:t>wakeup(&amp;pi-&gt;</a:t>
            </a:r>
            <a:r>
              <a:rPr lang="en-US" altLang="zh-CN" b="0" dirty="0" err="1">
                <a:effectLst/>
                <a:latin typeface="JetBrains Mono Medium" panose="02000009000000000000" pitchFamily="49" charset="0"/>
              </a:rPr>
              <a:t>nwrie</a:t>
            </a:r>
            <a:r>
              <a:rPr lang="en-US" altLang="zh-CN" b="0" dirty="0">
                <a:effectLst/>
                <a:latin typeface="JetBrains Mono Medium" panose="02000009000000000000" pitchFamily="49" charset="0"/>
              </a:rPr>
              <a:t>);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1EFC3B4-0650-6230-ECC9-7F9D090C5D8F}"/>
              </a:ext>
            </a:extLst>
          </p:cNvPr>
          <p:cNvCxnSpPr>
            <a:cxnSpLocks/>
          </p:cNvCxnSpPr>
          <p:nvPr/>
        </p:nvCxnSpPr>
        <p:spPr>
          <a:xfrm flipH="1" flipV="1">
            <a:off x="752559" y="3646467"/>
            <a:ext cx="1893536" cy="1760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4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0" grpId="0"/>
      <p:bldP spid="21" grpId="0"/>
      <p:bldP spid="2" grpId="0"/>
      <p:bldP spid="5" grpId="0"/>
      <p:bldP spid="9" grpId="0" animBg="1"/>
      <p:bldP spid="11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基础题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2-1/2-2: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管道动画演示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D190C0-2D44-27B4-72AC-B726BAB02C14}"/>
              </a:ext>
            </a:extLst>
          </p:cNvPr>
          <p:cNvSpPr/>
          <p:nvPr/>
        </p:nvSpPr>
        <p:spPr>
          <a:xfrm>
            <a:off x="3848571" y="2660801"/>
            <a:ext cx="4288779" cy="153639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已写入缓冲区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328757-14A3-B9A7-B19D-0F7E86AC4DE5}"/>
              </a:ext>
            </a:extLst>
          </p:cNvPr>
          <p:cNvSpPr/>
          <p:nvPr/>
        </p:nvSpPr>
        <p:spPr>
          <a:xfrm>
            <a:off x="1169446" y="2660799"/>
            <a:ext cx="2679125" cy="15363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30767F-AFD1-1FF3-8FB1-785A364AD67A}"/>
              </a:ext>
            </a:extLst>
          </p:cNvPr>
          <p:cNvSpPr/>
          <p:nvPr/>
        </p:nvSpPr>
        <p:spPr>
          <a:xfrm>
            <a:off x="8137351" y="2660801"/>
            <a:ext cx="2375600" cy="15363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3C19B11-E53F-F19A-4709-AB0269C7DC4B}"/>
              </a:ext>
            </a:extLst>
          </p:cNvPr>
          <p:cNvCxnSpPr/>
          <p:nvPr/>
        </p:nvCxnSpPr>
        <p:spPr>
          <a:xfrm flipH="1">
            <a:off x="3954209" y="2084148"/>
            <a:ext cx="764771" cy="440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C160E24-D0A3-1C59-66E4-A820E0C2291A}"/>
              </a:ext>
            </a:extLst>
          </p:cNvPr>
          <p:cNvCxnSpPr>
            <a:cxnSpLocks/>
          </p:cNvCxnSpPr>
          <p:nvPr/>
        </p:nvCxnSpPr>
        <p:spPr>
          <a:xfrm flipH="1">
            <a:off x="8137350" y="2127249"/>
            <a:ext cx="762932" cy="465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FD3C93B-8F9B-032D-5133-716CEED3FA59}"/>
              </a:ext>
            </a:extLst>
          </p:cNvPr>
          <p:cNvSpPr txBox="1"/>
          <p:nvPr/>
        </p:nvSpPr>
        <p:spPr>
          <a:xfrm>
            <a:off x="4807184" y="1884093"/>
            <a:ext cx="1080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nread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B50D1D-DC61-37E0-07A3-DA39493CE329}"/>
              </a:ext>
            </a:extLst>
          </p:cNvPr>
          <p:cNvSpPr txBox="1"/>
          <p:nvPr/>
        </p:nvSpPr>
        <p:spPr>
          <a:xfrm>
            <a:off x="8989294" y="1884093"/>
            <a:ext cx="1288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nwrite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7CC201-07D4-203B-C02E-CB7B332FAF6A}"/>
              </a:ext>
            </a:extLst>
          </p:cNvPr>
          <p:cNvSpPr txBox="1">
            <a:spLocks/>
          </p:cNvSpPr>
          <p:nvPr/>
        </p:nvSpPr>
        <p:spPr>
          <a:xfrm>
            <a:off x="804630" y="1118472"/>
            <a:ext cx="5075993" cy="37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缓冲区非空非满时的动态读写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899509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基础题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2-1/2-2: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管道动画演示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D190C0-2D44-27B4-72AC-B726BAB02C14}"/>
              </a:ext>
            </a:extLst>
          </p:cNvPr>
          <p:cNvSpPr/>
          <p:nvPr/>
        </p:nvSpPr>
        <p:spPr>
          <a:xfrm>
            <a:off x="5146535" y="2660801"/>
            <a:ext cx="2990815" cy="153639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已写入缓冲区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328757-14A3-B9A7-B19D-0F7E86AC4DE5}"/>
              </a:ext>
            </a:extLst>
          </p:cNvPr>
          <p:cNvSpPr/>
          <p:nvPr/>
        </p:nvSpPr>
        <p:spPr>
          <a:xfrm>
            <a:off x="1169446" y="2660799"/>
            <a:ext cx="3977088" cy="15363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30767F-AFD1-1FF3-8FB1-785A364AD67A}"/>
              </a:ext>
            </a:extLst>
          </p:cNvPr>
          <p:cNvSpPr/>
          <p:nvPr/>
        </p:nvSpPr>
        <p:spPr>
          <a:xfrm>
            <a:off x="8137351" y="2660801"/>
            <a:ext cx="2375600" cy="15363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3C19B11-E53F-F19A-4709-AB0269C7DC4B}"/>
              </a:ext>
            </a:extLst>
          </p:cNvPr>
          <p:cNvCxnSpPr/>
          <p:nvPr/>
        </p:nvCxnSpPr>
        <p:spPr>
          <a:xfrm flipH="1">
            <a:off x="5146534" y="2186804"/>
            <a:ext cx="764771" cy="440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C160E24-D0A3-1C59-66E4-A820E0C2291A}"/>
              </a:ext>
            </a:extLst>
          </p:cNvPr>
          <p:cNvCxnSpPr>
            <a:cxnSpLocks/>
          </p:cNvCxnSpPr>
          <p:nvPr/>
        </p:nvCxnSpPr>
        <p:spPr>
          <a:xfrm flipH="1">
            <a:off x="8137350" y="2127249"/>
            <a:ext cx="762932" cy="465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FD3C93B-8F9B-032D-5133-716CEED3FA59}"/>
              </a:ext>
            </a:extLst>
          </p:cNvPr>
          <p:cNvSpPr txBox="1"/>
          <p:nvPr/>
        </p:nvSpPr>
        <p:spPr>
          <a:xfrm>
            <a:off x="5953677" y="1900007"/>
            <a:ext cx="1080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nread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B50D1D-DC61-37E0-07A3-DA39493CE329}"/>
              </a:ext>
            </a:extLst>
          </p:cNvPr>
          <p:cNvSpPr txBox="1"/>
          <p:nvPr/>
        </p:nvSpPr>
        <p:spPr>
          <a:xfrm>
            <a:off x="8989294" y="1884093"/>
            <a:ext cx="1288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nwrite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7CC201-07D4-203B-C02E-CB7B332FAF6A}"/>
              </a:ext>
            </a:extLst>
          </p:cNvPr>
          <p:cNvSpPr txBox="1">
            <a:spLocks/>
          </p:cNvSpPr>
          <p:nvPr/>
        </p:nvSpPr>
        <p:spPr>
          <a:xfrm>
            <a:off x="811845" y="1201952"/>
            <a:ext cx="5075993" cy="37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缓冲区非空非满时的动态读写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782568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基础题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2-1/2-2: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  <a:sym typeface="+mn-ea"/>
              </a:rPr>
              <a:t>管道动画演示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D190C0-2D44-27B4-72AC-B726BAB02C14}"/>
              </a:ext>
            </a:extLst>
          </p:cNvPr>
          <p:cNvSpPr/>
          <p:nvPr/>
        </p:nvSpPr>
        <p:spPr>
          <a:xfrm>
            <a:off x="5146535" y="2660801"/>
            <a:ext cx="3957004" cy="153639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已写入缓冲区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328757-14A3-B9A7-B19D-0F7E86AC4DE5}"/>
              </a:ext>
            </a:extLst>
          </p:cNvPr>
          <p:cNvSpPr/>
          <p:nvPr/>
        </p:nvSpPr>
        <p:spPr>
          <a:xfrm>
            <a:off x="1169446" y="2660799"/>
            <a:ext cx="3977088" cy="15363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30767F-AFD1-1FF3-8FB1-785A364AD67A}"/>
              </a:ext>
            </a:extLst>
          </p:cNvPr>
          <p:cNvSpPr/>
          <p:nvPr/>
        </p:nvSpPr>
        <p:spPr>
          <a:xfrm>
            <a:off x="9103539" y="2660801"/>
            <a:ext cx="1409411" cy="15363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3C19B11-E53F-F19A-4709-AB0269C7DC4B}"/>
              </a:ext>
            </a:extLst>
          </p:cNvPr>
          <p:cNvCxnSpPr/>
          <p:nvPr/>
        </p:nvCxnSpPr>
        <p:spPr>
          <a:xfrm flipH="1">
            <a:off x="5146534" y="2186804"/>
            <a:ext cx="764771" cy="440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C160E24-D0A3-1C59-66E4-A820E0C2291A}"/>
              </a:ext>
            </a:extLst>
          </p:cNvPr>
          <p:cNvCxnSpPr>
            <a:cxnSpLocks/>
          </p:cNvCxnSpPr>
          <p:nvPr/>
        </p:nvCxnSpPr>
        <p:spPr>
          <a:xfrm flipH="1">
            <a:off x="9103539" y="2135707"/>
            <a:ext cx="762932" cy="465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FD3C93B-8F9B-032D-5133-716CEED3FA59}"/>
              </a:ext>
            </a:extLst>
          </p:cNvPr>
          <p:cNvSpPr txBox="1"/>
          <p:nvPr/>
        </p:nvSpPr>
        <p:spPr>
          <a:xfrm>
            <a:off x="5953677" y="1900007"/>
            <a:ext cx="1080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nread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B50D1D-DC61-37E0-07A3-DA39493CE329}"/>
              </a:ext>
            </a:extLst>
          </p:cNvPr>
          <p:cNvSpPr txBox="1"/>
          <p:nvPr/>
        </p:nvSpPr>
        <p:spPr>
          <a:xfrm>
            <a:off x="9868480" y="1876071"/>
            <a:ext cx="1288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nwrite</a:t>
            </a:r>
            <a:endParaRPr lang="zh-CN" altLang="en-US" sz="20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7CC201-07D4-203B-C02E-CB7B332FAF6A}"/>
              </a:ext>
            </a:extLst>
          </p:cNvPr>
          <p:cNvSpPr txBox="1">
            <a:spLocks/>
          </p:cNvSpPr>
          <p:nvPr/>
        </p:nvSpPr>
        <p:spPr>
          <a:xfrm>
            <a:off x="811845" y="1201952"/>
            <a:ext cx="5075993" cy="37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缓冲区非空非满时的动态读写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613052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 cstate="screen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5"/>
          <p:cNvSpPr/>
          <p:nvPr/>
        </p:nvSpPr>
        <p:spPr bwMode="auto">
          <a:xfrm>
            <a:off x="771225" y="1754842"/>
            <a:ext cx="2935728" cy="487172"/>
          </a:xfrm>
          <a:custGeom>
            <a:avLst/>
            <a:gdLst>
              <a:gd name="T0" fmla="*/ 275 w 3851"/>
              <a:gd name="T1" fmla="*/ 0 h 633"/>
              <a:gd name="T2" fmla="*/ 3575 w 3851"/>
              <a:gd name="T3" fmla="*/ 0 h 633"/>
              <a:gd name="T4" fmla="*/ 3851 w 3851"/>
              <a:gd name="T5" fmla="*/ 633 h 633"/>
              <a:gd name="T6" fmla="*/ 0 w 3851"/>
              <a:gd name="T7" fmla="*/ 633 h 633"/>
              <a:gd name="T8" fmla="*/ 275 w 3851"/>
              <a:gd name="T9" fmla="*/ 0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51" h="633">
                <a:moveTo>
                  <a:pt x="275" y="0"/>
                </a:moveTo>
                <a:lnTo>
                  <a:pt x="3575" y="0"/>
                </a:lnTo>
                <a:lnTo>
                  <a:pt x="3851" y="633"/>
                </a:lnTo>
                <a:lnTo>
                  <a:pt x="0" y="633"/>
                </a:lnTo>
                <a:lnTo>
                  <a:pt x="275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3" name="Rectangle 6"/>
          <p:cNvSpPr>
            <a:spLocks noChangeArrowheads="1"/>
          </p:cNvSpPr>
          <p:nvPr/>
        </p:nvSpPr>
        <p:spPr bwMode="auto">
          <a:xfrm>
            <a:off x="1" y="2245189"/>
            <a:ext cx="12192000" cy="2196242"/>
          </a:xfrm>
          <a:prstGeom prst="rect">
            <a:avLst/>
          </a:prstGeom>
          <a:gradFill flip="none" rotWithShape="1">
            <a:gsLst>
              <a:gs pos="0">
                <a:srgbClr val="0C4994">
                  <a:shade val="30000"/>
                  <a:satMod val="115000"/>
                </a:srgbClr>
              </a:gs>
              <a:gs pos="50000">
                <a:srgbClr val="0C4994">
                  <a:shade val="67500"/>
                  <a:satMod val="115000"/>
                </a:srgbClr>
              </a:gs>
              <a:gs pos="100000">
                <a:srgbClr val="0C4994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4" name="Rectangle 7"/>
          <p:cNvSpPr>
            <a:spLocks noChangeArrowheads="1"/>
          </p:cNvSpPr>
          <p:nvPr/>
        </p:nvSpPr>
        <p:spPr bwMode="auto">
          <a:xfrm>
            <a:off x="980692" y="1754842"/>
            <a:ext cx="2513618" cy="2686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6" name="TextBox 25"/>
          <p:cNvSpPr txBox="1">
            <a:spLocks noChangeArrowheads="1"/>
          </p:cNvSpPr>
          <p:nvPr/>
        </p:nvSpPr>
        <p:spPr bwMode="auto">
          <a:xfrm>
            <a:off x="3750058" y="2860355"/>
            <a:ext cx="74612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zh-CN" altLang="en-US" sz="4000" b="1" dirty="0">
                <a:solidFill>
                  <a:srgbClr val="FDC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部分：剩余基础题目分析</a:t>
            </a:r>
          </a:p>
        </p:txBody>
      </p:sp>
      <p:sp>
        <p:nvSpPr>
          <p:cNvPr id="10247" name="TextBox 26"/>
          <p:cNvSpPr txBox="1">
            <a:spLocks noChangeArrowheads="1"/>
          </p:cNvSpPr>
          <p:nvPr/>
        </p:nvSpPr>
        <p:spPr bwMode="auto">
          <a:xfrm>
            <a:off x="1198095" y="2245187"/>
            <a:ext cx="2082621" cy="1938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9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05</a:t>
            </a:r>
            <a:endParaRPr kumimoji="0" lang="zh-CN" altLang="en-US" sz="119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 descr="横版组合——透明.pn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8468075" y="127196"/>
            <a:ext cx="342953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909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ldLvl="0" animBg="1" autoUpdateAnimBg="0"/>
      <p:bldP spid="10244" grpId="0" bldLvl="0" animBg="1" autoUpdateAnimBg="0"/>
      <p:bldP spid="10246" grpId="0" autoUpdateAnimBg="0"/>
      <p:bldP spid="1024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60"/>
            <a:ext cx="10515600" cy="683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只有一个读者和写者时，使用</a:t>
            </a:r>
            <a:r>
              <a:rPr lang="en-US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 </a:t>
            </a:r>
            <a:r>
              <a:rPr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if </a:t>
            </a:r>
            <a:r>
              <a:rPr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代替</a:t>
            </a:r>
            <a:r>
              <a:rPr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 </a:t>
            </a:r>
            <a:r>
              <a:rPr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pipewrite</a:t>
            </a:r>
            <a:r>
              <a:rPr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（）</a:t>
            </a:r>
            <a:r>
              <a:rPr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中的while</a:t>
            </a:r>
            <a:r>
              <a:rPr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 </a:t>
            </a:r>
            <a:r>
              <a:rPr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会对语义和正确性产生影响吗？若有多个读者或多个写者呢</a:t>
            </a:r>
            <a:r>
              <a:rPr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基础题</a:t>
            </a:r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3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9A4DD129-9304-8707-394A-920A143C5539}"/>
              </a:ext>
            </a:extLst>
          </p:cNvPr>
          <p:cNvSpPr txBox="1">
            <a:spLocks/>
          </p:cNvSpPr>
          <p:nvPr/>
        </p:nvSpPr>
        <p:spPr>
          <a:xfrm>
            <a:off x="6121418" y="2030086"/>
            <a:ext cx="5425506" cy="11449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由于</a:t>
            </a:r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while</a:t>
            </a:r>
            <a:r>
              <a:rPr lang="zh-CN" altLang="en-US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循环的循环条件是 </a:t>
            </a:r>
            <a:r>
              <a:rPr lang="en-US" altLang="zh-CN" sz="2000" b="1" dirty="0" err="1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i</a:t>
            </a:r>
            <a:r>
              <a:rPr lang="en-US" altLang="zh-CN" sz="2000" b="1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 &lt; n</a:t>
            </a:r>
            <a:r>
              <a:rPr lang="zh-CN" altLang="en-US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，所以只要写入数据量大于</a:t>
            </a:r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1</a:t>
            </a:r>
            <a:r>
              <a:rPr lang="zh-CN" altLang="en-US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字节，无论是一个读者和写者，还是多个读者或多个写者，都是会影响语义和正确性的</a:t>
            </a:r>
            <a:endParaRPr lang="en-US" altLang="zh-CN" sz="20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3036A25-C93A-F7A7-9B59-6821B5EB0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76" y="1863115"/>
            <a:ext cx="5080782" cy="487755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BA34576-6660-D0F3-F24C-739674A2C2D3}"/>
              </a:ext>
            </a:extLst>
          </p:cNvPr>
          <p:cNvSpPr/>
          <p:nvPr/>
        </p:nvSpPr>
        <p:spPr>
          <a:xfrm>
            <a:off x="852566" y="3342011"/>
            <a:ext cx="4787583" cy="246807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60"/>
            <a:ext cx="10515600" cy="683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只有一个读者和写者时，使用</a:t>
            </a:r>
            <a:r>
              <a:rPr lang="en-US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 </a:t>
            </a:r>
            <a:r>
              <a:rPr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if </a:t>
            </a:r>
            <a:r>
              <a:rPr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代替</a:t>
            </a:r>
            <a:r>
              <a:rPr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 </a:t>
            </a:r>
            <a:r>
              <a:rPr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pipe</a:t>
            </a:r>
            <a:r>
              <a:rPr lang="en-US" altLang="zh-CN"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read</a:t>
            </a:r>
            <a:r>
              <a:rPr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（）</a:t>
            </a:r>
            <a:r>
              <a:rPr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中的while</a:t>
            </a:r>
            <a:r>
              <a:rPr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 </a:t>
            </a:r>
            <a:r>
              <a:rPr sz="2000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会对语义和正确性产生影响吗？若有多个读者或多个写者呢</a:t>
            </a:r>
            <a:r>
              <a:rPr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基础题</a:t>
            </a:r>
            <a:r>
              <a:rPr lang="en-US" altLang="zh-CN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4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9A4DD129-9304-8707-394A-920A143C5539}"/>
              </a:ext>
            </a:extLst>
          </p:cNvPr>
          <p:cNvSpPr txBox="1">
            <a:spLocks/>
          </p:cNvSpPr>
          <p:nvPr/>
        </p:nvSpPr>
        <p:spPr>
          <a:xfrm>
            <a:off x="6390659" y="2028959"/>
            <a:ext cx="5425506" cy="1144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一个读者和写者</a:t>
            </a:r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:</a:t>
            </a:r>
            <a:r>
              <a:rPr lang="zh-CN" altLang="en-US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不会产生影响，休眠期间不会有别的读者读走刚写入的数据，只要写入，下次一定不会再为空，可以替换为</a:t>
            </a:r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if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89D7F3-F0DE-DD59-9F58-C648B8A7B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35" y="1759864"/>
            <a:ext cx="5833270" cy="49746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746F276-0A95-64AB-FA48-6BF61FBC76B0}"/>
              </a:ext>
            </a:extLst>
          </p:cNvPr>
          <p:cNvSpPr/>
          <p:nvPr/>
        </p:nvSpPr>
        <p:spPr>
          <a:xfrm>
            <a:off x="815009" y="3528127"/>
            <a:ext cx="5205465" cy="118953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6D05F8E2-AF33-922D-5361-83C32347C3B6}"/>
              </a:ext>
            </a:extLst>
          </p:cNvPr>
          <p:cNvSpPr txBox="1">
            <a:spLocks/>
          </p:cNvSpPr>
          <p:nvPr/>
        </p:nvSpPr>
        <p:spPr>
          <a:xfrm>
            <a:off x="6390659" y="3053518"/>
            <a:ext cx="5425506" cy="1664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多个读者或多个写者</a:t>
            </a:r>
            <a:r>
              <a:rPr lang="en-US" altLang="zh-CN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:</a:t>
            </a:r>
            <a:r>
              <a:rPr lang="zh-CN" altLang="en-US" sz="20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从休眠中唤醒时，有可能新写入的数据已经被其他读者进程读走了，导致这个新唤醒的读进程醒来后面对的还是一个空管道，这样就会直接跳过循环读取的过程，释放锁，出现了问题。</a:t>
            </a:r>
            <a:endParaRPr lang="en-US" altLang="zh-CN" sz="20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60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6" grpId="0" animBg="1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 cstate="screen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5"/>
          <p:cNvSpPr/>
          <p:nvPr/>
        </p:nvSpPr>
        <p:spPr bwMode="auto">
          <a:xfrm>
            <a:off x="771225" y="1754842"/>
            <a:ext cx="2935728" cy="487172"/>
          </a:xfrm>
          <a:custGeom>
            <a:avLst/>
            <a:gdLst>
              <a:gd name="T0" fmla="*/ 275 w 3851"/>
              <a:gd name="T1" fmla="*/ 0 h 633"/>
              <a:gd name="T2" fmla="*/ 3575 w 3851"/>
              <a:gd name="T3" fmla="*/ 0 h 633"/>
              <a:gd name="T4" fmla="*/ 3851 w 3851"/>
              <a:gd name="T5" fmla="*/ 633 h 633"/>
              <a:gd name="T6" fmla="*/ 0 w 3851"/>
              <a:gd name="T7" fmla="*/ 633 h 633"/>
              <a:gd name="T8" fmla="*/ 275 w 3851"/>
              <a:gd name="T9" fmla="*/ 0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51" h="633">
                <a:moveTo>
                  <a:pt x="275" y="0"/>
                </a:moveTo>
                <a:lnTo>
                  <a:pt x="3575" y="0"/>
                </a:lnTo>
                <a:lnTo>
                  <a:pt x="3851" y="633"/>
                </a:lnTo>
                <a:lnTo>
                  <a:pt x="0" y="633"/>
                </a:lnTo>
                <a:lnTo>
                  <a:pt x="275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3" name="Rectangle 6"/>
          <p:cNvSpPr>
            <a:spLocks noChangeArrowheads="1"/>
          </p:cNvSpPr>
          <p:nvPr/>
        </p:nvSpPr>
        <p:spPr bwMode="auto">
          <a:xfrm>
            <a:off x="1" y="2245189"/>
            <a:ext cx="12192000" cy="2196242"/>
          </a:xfrm>
          <a:prstGeom prst="rect">
            <a:avLst/>
          </a:prstGeom>
          <a:gradFill flip="none" rotWithShape="1">
            <a:gsLst>
              <a:gs pos="0">
                <a:srgbClr val="0C4994">
                  <a:shade val="30000"/>
                  <a:satMod val="115000"/>
                </a:srgbClr>
              </a:gs>
              <a:gs pos="50000">
                <a:srgbClr val="0C4994">
                  <a:shade val="67500"/>
                  <a:satMod val="115000"/>
                </a:srgbClr>
              </a:gs>
              <a:gs pos="100000">
                <a:srgbClr val="0C4994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4" name="Rectangle 7"/>
          <p:cNvSpPr>
            <a:spLocks noChangeArrowheads="1"/>
          </p:cNvSpPr>
          <p:nvPr/>
        </p:nvSpPr>
        <p:spPr bwMode="auto">
          <a:xfrm>
            <a:off x="980692" y="1754842"/>
            <a:ext cx="2513618" cy="2686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D7004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46" name="TextBox 25"/>
          <p:cNvSpPr txBox="1">
            <a:spLocks noChangeArrowheads="1"/>
          </p:cNvSpPr>
          <p:nvPr/>
        </p:nvSpPr>
        <p:spPr bwMode="auto">
          <a:xfrm>
            <a:off x="3792855" y="2553335"/>
            <a:ext cx="746125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zh-CN" altLang="en-US" sz="4000" b="1" dirty="0">
                <a:solidFill>
                  <a:srgbClr val="FDC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部分：进阶题</a:t>
            </a:r>
          </a:p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  <a:sym typeface="+mn-ea"/>
              </a:rPr>
              <a:t>—— spinlock</a:t>
            </a:r>
            <a:r>
              <a:rPr lang="zh-CN" altLang="en-US" sz="4000" b="1" noProof="0" dirty="0">
                <a:ln>
                  <a:noFill/>
                </a:ln>
                <a:solidFill>
                  <a:srgbClr val="FDCB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读写锁调研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DCB3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47" name="TextBox 26"/>
          <p:cNvSpPr txBox="1">
            <a:spLocks noChangeArrowheads="1"/>
          </p:cNvSpPr>
          <p:nvPr/>
        </p:nvSpPr>
        <p:spPr bwMode="auto">
          <a:xfrm>
            <a:off x="1198095" y="2245187"/>
            <a:ext cx="2082621" cy="1938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9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en-US" altLang="zh-CN" sz="11995" b="1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kumimoji="0" lang="zh-CN" altLang="en-US" sz="119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 descr="横版组合——透明.pn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8468075" y="127196"/>
            <a:ext cx="342953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ldLvl="0" animBg="1" autoUpdateAnimBg="0"/>
      <p:bldP spid="10244" grpId="0" bldLvl="0" animBg="1" autoUpdateAnimBg="0"/>
      <p:bldP spid="10246" grpId="0" autoUpdateAnimBg="0"/>
      <p:bldP spid="1024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59"/>
            <a:ext cx="10515600" cy="4150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/>
              <a:t>Linux kernel </a:t>
            </a:r>
            <a:r>
              <a:rPr lang="zh-CN" altLang="en-US" sz="3200" dirty="0"/>
              <a:t>中读写锁主要分为两种类型，分别是：</a:t>
            </a:r>
            <a:endParaRPr lang="en-US" altLang="zh-CN" sz="3200" dirty="0"/>
          </a:p>
          <a:p>
            <a:pPr marL="0" indent="0">
              <a:buNone/>
            </a:pPr>
            <a:r>
              <a:rPr lang="en-US" sz="32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	</a:t>
            </a:r>
            <a:r>
              <a:rPr lang="en-US" altLang="zh-CN" sz="3200" dirty="0"/>
              <a:t>1. spinlock </a:t>
            </a:r>
            <a:r>
              <a:rPr lang="zh-CN" altLang="en-US" sz="3200" dirty="0"/>
              <a:t>类型</a:t>
            </a:r>
            <a:endParaRPr lang="en-US" sz="32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  <a:p>
            <a:pPr marL="0" indent="0">
              <a:buNone/>
            </a:pPr>
            <a:r>
              <a:rPr lang="en-US" sz="32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	2. </a:t>
            </a:r>
            <a:r>
              <a:rPr lang="zh-CN" altLang="en-US" sz="32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信号量类型</a:t>
            </a:r>
            <a:endParaRPr lang="en-US" altLang="zh-CN" sz="32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  <a:p>
            <a:pPr marL="0" indent="0">
              <a:buNone/>
            </a:pPr>
            <a:r>
              <a:rPr lang="zh-CN" altLang="en-US" sz="3200" dirty="0"/>
              <a:t>请阅读相关代码并查找资料，介绍读写锁的由来、特性，基本原理和使⽤场景，并且选择上述⼀种类型，给出相应的数据结构和⽀持的操作 </a:t>
            </a:r>
            <a:endParaRPr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进阶题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52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59"/>
            <a:ext cx="10515600" cy="30744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dirty="0"/>
              <a:t>读写锁（</a:t>
            </a:r>
            <a:r>
              <a:rPr lang="en-US" altLang="zh-CN" sz="3200" dirty="0"/>
              <a:t>readers and single writer lock</a:t>
            </a:r>
            <a:r>
              <a:rPr lang="zh-CN" altLang="en-US" sz="3200" dirty="0"/>
              <a:t>）是一种同步机制，允许多个线程同时读取共享资源，但在写入共享资源时，必须独占访问。读写锁的设计目的是提高并发性和性能，特别是在读操作远多于写操作的场景下</a:t>
            </a:r>
            <a:endParaRPr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读写锁的由来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65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59"/>
            <a:ext cx="10515600" cy="3359816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读锁（共享锁）：多个线程可以同时持有读锁，允许并发读取</a:t>
            </a:r>
          </a:p>
          <a:p>
            <a:r>
              <a:rPr lang="zh-CN" altLang="en-US" sz="3200" dirty="0"/>
              <a:t>写锁（独占锁）：只有一个线程可以持有写锁，写锁会阻塞其他读锁和写锁的获取</a:t>
            </a:r>
          </a:p>
          <a:p>
            <a:r>
              <a:rPr lang="zh-CN" altLang="en-US" sz="3200" dirty="0"/>
              <a:t>升级和降级：某些实现允许将读锁升级为写锁或将写锁降级为读锁</a:t>
            </a:r>
            <a:endParaRPr lang="en-US" altLang="zh-CN" sz="3200" dirty="0"/>
          </a:p>
          <a:p>
            <a:endParaRPr lang="en-US" altLang="zh-CN" sz="3200" dirty="0"/>
          </a:p>
          <a:p>
            <a:pPr marL="0" indent="0">
              <a:buNone/>
            </a:pPr>
            <a:endParaRPr lang="zh-CN" altLang="en-US" sz="3200" dirty="0"/>
          </a:p>
          <a:p>
            <a:pPr marL="0" indent="0">
              <a:buNone/>
            </a:pPr>
            <a:endParaRPr lang="en-US" altLang="zh-CN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读写锁的特性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359DCA-F619-4DA7-B5B1-F9D4AF539A30}"/>
              </a:ext>
            </a:extLst>
          </p:cNvPr>
          <p:cNvSpPr txBox="1"/>
          <p:nvPr/>
        </p:nvSpPr>
        <p:spPr>
          <a:xfrm>
            <a:off x="815009" y="4409872"/>
            <a:ext cx="1053879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rgbClr val="EEFF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zh-CN" altLang="en-US" sz="2400" b="0" dirty="0"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参考文档</a:t>
            </a:r>
            <a:r>
              <a:rPr lang="en-US" altLang="zh-CN" sz="2400" b="0" u="sng" dirty="0"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https://www.boost.org/doc/libs/1_86_0/doc/html/thread/synchronization.html#thread.synchronization.mutex_concepts.upgrade_lockable</a:t>
            </a:r>
            <a:r>
              <a:rPr lang="en-US" altLang="zh-CN" sz="2400" b="0" dirty="0">
                <a:solidFill>
                  <a:srgbClr val="EEFFF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5692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59"/>
            <a:ext cx="10515600" cy="4663322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允许多个读者同时访问共享资源，不允许读者和写者同时访问资源；写者在进行写操作时要独占资源</a:t>
            </a:r>
          </a:p>
          <a:p>
            <a:r>
              <a:rPr lang="zh-CN" altLang="en-US" sz="3200" dirty="0"/>
              <a:t>读操作：</a:t>
            </a:r>
          </a:p>
          <a:p>
            <a:pPr lvl="1"/>
            <a:r>
              <a:rPr lang="zh-CN" altLang="en-US" sz="2800" dirty="0"/>
              <a:t>如果没有写者持有锁，且没有任何写者正在等待获取锁（写者优先），那么读者可以获得读锁并访问共享资源</a:t>
            </a:r>
          </a:p>
          <a:p>
            <a:pPr lvl="1"/>
            <a:r>
              <a:rPr lang="zh-CN" altLang="en-US" sz="2800" dirty="0"/>
              <a:t>如果没有写者持有锁，那么读者可以获得读锁并访问共享资源（读者优先）</a:t>
            </a:r>
          </a:p>
          <a:p>
            <a:r>
              <a:rPr lang="zh-CN" altLang="en-US" sz="3200" dirty="0"/>
              <a:t>写操作：如果没有写者持有锁，且所有持有的读锁都已释放，则可以获得写锁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读写锁的基本原理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84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59"/>
            <a:ext cx="10515600" cy="4060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dirty="0"/>
              <a:t>读写锁适用于读操作频繁、写操作较少的场景，例如：</a:t>
            </a:r>
            <a:endParaRPr lang="en-US" altLang="zh-CN" sz="3200" dirty="0"/>
          </a:p>
          <a:p>
            <a:pPr marL="0" indent="0">
              <a:buNone/>
            </a:pPr>
            <a:endParaRPr lang="zh-CN" altLang="en-US" sz="3200" dirty="0"/>
          </a:p>
          <a:p>
            <a:r>
              <a:rPr lang="zh-CN" altLang="en-US" sz="3200" dirty="0"/>
              <a:t>缓存系统</a:t>
            </a:r>
          </a:p>
          <a:p>
            <a:r>
              <a:rPr lang="zh-CN" altLang="en-US" sz="3200" dirty="0"/>
              <a:t>配置文件读取</a:t>
            </a:r>
          </a:p>
          <a:p>
            <a:r>
              <a:rPr lang="zh-CN" altLang="en-US" sz="3200" dirty="0"/>
              <a:t>数据库查询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读写锁的使用场景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11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59"/>
            <a:ext cx="10538791" cy="4060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Linux Kernel </a:t>
            </a:r>
            <a:r>
              <a:rPr lang="zh-CN" altLang="en-US" dirty="0"/>
              <a:t>中的读写锁主要有两种类型：基于</a:t>
            </a:r>
            <a:r>
              <a:rPr lang="en-US" altLang="zh-CN" dirty="0"/>
              <a:t>spinlock</a:t>
            </a:r>
            <a:r>
              <a:rPr lang="zh-CN" altLang="en-US" dirty="0"/>
              <a:t>的读写锁和基于信号量的读写锁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此处基于 </a:t>
            </a:r>
            <a:r>
              <a:rPr lang="en-US" altLang="zh-CN" dirty="0"/>
              <a:t>Linux Kernel 6.11.4 </a:t>
            </a:r>
            <a:r>
              <a:rPr lang="zh-CN" altLang="en-US" dirty="0"/>
              <a:t>版本的源码，简要介绍基于 </a:t>
            </a:r>
            <a:r>
              <a:rPr lang="en-US" altLang="zh-CN" dirty="0"/>
              <a:t>spinlock </a:t>
            </a:r>
            <a:r>
              <a:rPr lang="zh-CN" altLang="en-US" dirty="0"/>
              <a:t>的读写锁的实现</a:t>
            </a:r>
          </a:p>
          <a:p>
            <a:pPr marL="0" indent="0">
              <a:buNone/>
            </a:pP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Linux Kernel 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中的 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spinlock 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类型读写锁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70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10" y="1179759"/>
            <a:ext cx="10538790" cy="564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/>
              <a:t>arch_spinlock_t</a:t>
            </a:r>
            <a:r>
              <a:rPr lang="zh-CN" altLang="en-US" sz="2400" dirty="0"/>
              <a:t>是一个自旋锁的数据结构，定义在 </a:t>
            </a:r>
            <a:r>
              <a:rPr lang="en-US" altLang="zh-CN" sz="2400" dirty="0" err="1"/>
              <a:t>spinlock_types.h</a:t>
            </a:r>
            <a:r>
              <a:rPr lang="en-US" altLang="zh-CN" sz="2400" dirty="0"/>
              <a:t> </a:t>
            </a:r>
            <a:r>
              <a:rPr lang="zh-CN" altLang="en-US" sz="2400" dirty="0"/>
              <a:t>文件中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1.arch_spinlock_t 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数据结构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D97E936-F6C7-47D6-BD22-C13864651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09" y="1810008"/>
            <a:ext cx="4095881" cy="4441636"/>
          </a:xfrm>
          <a:prstGeom prst="rect">
            <a:avLst/>
          </a:prstGeom>
        </p:spPr>
      </p:pic>
      <p:sp>
        <p:nvSpPr>
          <p:cNvPr id="8" name="内容占位符 1">
            <a:extLst>
              <a:ext uri="{FF2B5EF4-FFF2-40B4-BE49-F238E27FC236}">
                <a16:creationId xmlns:a16="http://schemas.microsoft.com/office/drawing/2014/main" id="{7D9DA78A-BDDB-43B5-9B24-61D87E197B8E}"/>
              </a:ext>
            </a:extLst>
          </p:cNvPr>
          <p:cNvSpPr txBox="1">
            <a:spLocks/>
          </p:cNvSpPr>
          <p:nvPr/>
        </p:nvSpPr>
        <p:spPr>
          <a:xfrm>
            <a:off x="6096000" y="1804192"/>
            <a:ext cx="5425506" cy="2463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err="1"/>
              <a:t>slock</a:t>
            </a:r>
            <a:r>
              <a:rPr lang="zh-CN" altLang="en-US" sz="2400" dirty="0"/>
              <a:t>：一个</a:t>
            </a:r>
            <a:r>
              <a:rPr lang="en-US" altLang="zh-CN" sz="2400" dirty="0"/>
              <a:t>32</a:t>
            </a:r>
            <a:r>
              <a:rPr lang="zh-CN" altLang="en-US" sz="2400" dirty="0"/>
              <a:t>位的整数，用于表示自旋锁的状态</a:t>
            </a:r>
          </a:p>
          <a:p>
            <a:r>
              <a:rPr lang="en-US" altLang="zh-CN" sz="2400" dirty="0"/>
              <a:t>tickets</a:t>
            </a:r>
            <a:r>
              <a:rPr lang="zh-CN" altLang="en-US" sz="2400" dirty="0"/>
              <a:t>：一个包含两个</a:t>
            </a:r>
            <a:r>
              <a:rPr lang="en-US" altLang="zh-CN" sz="2400" dirty="0"/>
              <a:t>16</a:t>
            </a:r>
            <a:r>
              <a:rPr lang="zh-CN" altLang="en-US" sz="2400" dirty="0"/>
              <a:t>位整数的结构体，用于实现公平自旋锁。</a:t>
            </a:r>
            <a:r>
              <a:rPr lang="en-US" altLang="zh-CN" sz="2400" dirty="0"/>
              <a:t>owner </a:t>
            </a:r>
            <a:r>
              <a:rPr lang="zh-CN" altLang="en-US" sz="2400" dirty="0"/>
              <a:t>表示当前持有锁的线程，</a:t>
            </a:r>
            <a:r>
              <a:rPr lang="en-US" altLang="zh-CN" sz="2400" dirty="0"/>
              <a:t>next </a:t>
            </a:r>
            <a:r>
              <a:rPr lang="zh-CN" altLang="en-US" sz="2400" dirty="0"/>
              <a:t>表示下一个等待获取锁的线程</a:t>
            </a: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90B7483B-53DB-4B43-BBA0-CDAD73D2802E}"/>
              </a:ext>
            </a:extLst>
          </p:cNvPr>
          <p:cNvSpPr txBox="1">
            <a:spLocks/>
          </p:cNvSpPr>
          <p:nvPr/>
        </p:nvSpPr>
        <p:spPr>
          <a:xfrm>
            <a:off x="6084404" y="4327567"/>
            <a:ext cx="5425506" cy="1335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相关操作：</a:t>
            </a:r>
            <a:endParaRPr lang="en-US" altLang="zh-CN" sz="2400" dirty="0"/>
          </a:p>
          <a:p>
            <a:r>
              <a:rPr lang="en-US" altLang="zh-CN" sz="2400" dirty="0"/>
              <a:t>__ARCH_SPIN_LOCK_UNLOCKED</a:t>
            </a:r>
            <a:r>
              <a:rPr lang="zh-CN" altLang="en-US" sz="2400" dirty="0"/>
              <a:t>：初始化一个未锁定的自旋锁</a:t>
            </a: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1302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10" y="1179759"/>
            <a:ext cx="10538790" cy="564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/>
              <a:t>arch_rwlock_t</a:t>
            </a:r>
            <a:r>
              <a:rPr lang="en-US" altLang="zh-CN" sz="2400" dirty="0"/>
              <a:t> </a:t>
            </a:r>
            <a:r>
              <a:rPr lang="zh-CN" altLang="en-US" sz="2400" dirty="0"/>
              <a:t>是一个读写锁的数据结构，定义在 </a:t>
            </a:r>
            <a:r>
              <a:rPr lang="en-US" altLang="zh-CN" sz="2400" dirty="0" err="1"/>
              <a:t>spinlock_types.h</a:t>
            </a:r>
            <a:r>
              <a:rPr lang="en-US" altLang="zh-CN" sz="2400" dirty="0"/>
              <a:t> </a:t>
            </a:r>
            <a:r>
              <a:rPr lang="zh-CN" altLang="en-US" sz="2400" dirty="0"/>
              <a:t>文件中。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2. </a:t>
            </a:r>
            <a:r>
              <a:rPr lang="en-US" altLang="zh-CN" dirty="0" err="1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arch_rwlock_t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 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数据结构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7D9DA78A-BDDB-43B5-9B24-61D87E197B8E}"/>
              </a:ext>
            </a:extLst>
          </p:cNvPr>
          <p:cNvSpPr txBox="1">
            <a:spLocks/>
          </p:cNvSpPr>
          <p:nvPr/>
        </p:nvSpPr>
        <p:spPr>
          <a:xfrm>
            <a:off x="6096000" y="2250043"/>
            <a:ext cx="5425506" cy="117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lock</a:t>
            </a:r>
            <a:r>
              <a:rPr lang="zh-CN" altLang="en-US" sz="2400" dirty="0"/>
              <a:t>：一个</a:t>
            </a:r>
            <a:r>
              <a:rPr lang="en-US" altLang="zh-CN" sz="2400" dirty="0"/>
              <a:t>32</a:t>
            </a:r>
            <a:r>
              <a:rPr lang="zh-CN" altLang="en-US" sz="2400" dirty="0"/>
              <a:t>位的整数，用于表示读写锁的状态</a:t>
            </a: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90B7483B-53DB-4B43-BBA0-CDAD73D2802E}"/>
              </a:ext>
            </a:extLst>
          </p:cNvPr>
          <p:cNvSpPr txBox="1">
            <a:spLocks/>
          </p:cNvSpPr>
          <p:nvPr/>
        </p:nvSpPr>
        <p:spPr>
          <a:xfrm>
            <a:off x="6096000" y="3558702"/>
            <a:ext cx="5425506" cy="1335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相关操作：</a:t>
            </a:r>
            <a:endParaRPr lang="en-US" altLang="zh-CN" sz="2400" dirty="0"/>
          </a:p>
          <a:p>
            <a:r>
              <a:rPr lang="en-US" altLang="zh-CN" sz="2400" dirty="0"/>
              <a:t>__ARCH_RW_LOCK_UNLOCKED`</a:t>
            </a:r>
            <a:r>
              <a:rPr lang="zh-CN" altLang="en-US" sz="2400" dirty="0"/>
              <a:t>：初始化一个未锁定的读写锁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FE617D-B68A-442F-B6D1-BBA7A1D46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09" y="2368077"/>
            <a:ext cx="36766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84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10" y="1179759"/>
            <a:ext cx="10538790" cy="564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/>
              <a:t>rwlock_t</a:t>
            </a:r>
            <a:r>
              <a:rPr lang="en-US" altLang="zh-CN" sz="2400" dirty="0"/>
              <a:t> </a:t>
            </a:r>
            <a:r>
              <a:rPr lang="zh-CN" altLang="en-US" sz="2400" dirty="0"/>
              <a:t>是一个通用的读写锁数据结构，定义在 </a:t>
            </a:r>
            <a:r>
              <a:rPr lang="en-US" altLang="zh-CN" sz="2400" dirty="0" err="1"/>
              <a:t>rwlock_types.h</a:t>
            </a:r>
            <a:r>
              <a:rPr lang="en-US" altLang="zh-CN" sz="2400" dirty="0"/>
              <a:t> </a:t>
            </a:r>
            <a:r>
              <a:rPr lang="zh-CN" altLang="en-US" sz="2400" dirty="0"/>
              <a:t>文件中。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3. </a:t>
            </a:r>
            <a:r>
              <a:rPr lang="en-US" altLang="zh-CN" dirty="0" err="1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rwlock_t</a:t>
            </a:r>
            <a:r>
              <a:rPr lang="en-US" altLang="zh-CN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 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数据结构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7D9DA78A-BDDB-43B5-9B24-61D87E197B8E}"/>
              </a:ext>
            </a:extLst>
          </p:cNvPr>
          <p:cNvSpPr txBox="1">
            <a:spLocks/>
          </p:cNvSpPr>
          <p:nvPr/>
        </p:nvSpPr>
        <p:spPr>
          <a:xfrm>
            <a:off x="6096000" y="2250043"/>
            <a:ext cx="5425506" cy="117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err="1"/>
              <a:t>raw_lock</a:t>
            </a:r>
            <a:r>
              <a:rPr lang="zh-CN" altLang="en-US" sz="2400" dirty="0"/>
              <a:t>：即为底层的 </a:t>
            </a:r>
            <a:r>
              <a:rPr lang="en-US" altLang="zh-CN" sz="2400" dirty="0" err="1"/>
              <a:t>arch_rwlock_t</a:t>
            </a:r>
            <a:r>
              <a:rPr lang="en-US" altLang="zh-CN" sz="2400" dirty="0"/>
              <a:t> </a:t>
            </a:r>
            <a:r>
              <a:rPr lang="zh-CN" altLang="en-US" sz="2400" dirty="0"/>
              <a:t>读写锁</a:t>
            </a: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90B7483B-53DB-4B43-BBA0-CDAD73D2802E}"/>
              </a:ext>
            </a:extLst>
          </p:cNvPr>
          <p:cNvSpPr txBox="1">
            <a:spLocks/>
          </p:cNvSpPr>
          <p:nvPr/>
        </p:nvSpPr>
        <p:spPr>
          <a:xfrm>
            <a:off x="6096000" y="3558702"/>
            <a:ext cx="5425506" cy="211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相关操作：</a:t>
            </a:r>
            <a:endParaRPr lang="en-US" altLang="zh-CN" sz="2400" dirty="0"/>
          </a:p>
          <a:p>
            <a:r>
              <a:rPr lang="en-US" altLang="zh-CN" sz="2400" dirty="0"/>
              <a:t>__RW_LOCK_UNLOCKED</a:t>
            </a:r>
            <a:r>
              <a:rPr lang="zh-CN" altLang="en-US" sz="2400" dirty="0"/>
              <a:t>：初始化一个未锁定的读写锁</a:t>
            </a:r>
            <a:endParaRPr lang="en-US" altLang="zh-CN" sz="2400" dirty="0"/>
          </a:p>
          <a:p>
            <a:r>
              <a:rPr lang="en-US" altLang="zh-CN" sz="2400" dirty="0"/>
              <a:t>`DEFINE_RWLOCK`</a:t>
            </a:r>
            <a:r>
              <a:rPr lang="zh-CN" altLang="en-US" sz="2400" dirty="0"/>
              <a:t>：定义并初始化一个读写锁</a:t>
            </a:r>
          </a:p>
          <a:p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083775-1389-43F8-8900-2A640A09F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09" y="1902710"/>
            <a:ext cx="4473497" cy="341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3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60"/>
            <a:ext cx="10538791" cy="914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基于</a:t>
            </a:r>
            <a:r>
              <a:rPr lang="en-US" altLang="zh-CN" dirty="0"/>
              <a:t>spinlock</a:t>
            </a:r>
            <a:r>
              <a:rPr lang="zh-CN" altLang="en-US" dirty="0"/>
              <a:t>的读写锁的读写锁相关操作主要定义在 </a:t>
            </a:r>
            <a:r>
              <a:rPr lang="en-US" altLang="zh-CN" dirty="0" err="1"/>
              <a:t>rwlock.h</a:t>
            </a:r>
            <a:r>
              <a:rPr lang="en-US" altLang="zh-CN" dirty="0"/>
              <a:t> </a:t>
            </a:r>
            <a:r>
              <a:rPr lang="zh-CN" altLang="en-US" dirty="0"/>
              <a:t>文件中，共三部分，如下是第一部分：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rwlock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相关操作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26E44FE7-1803-4E7B-836E-146243259EC6}"/>
              </a:ext>
            </a:extLst>
          </p:cNvPr>
          <p:cNvSpPr txBox="1">
            <a:spLocks/>
          </p:cNvSpPr>
          <p:nvPr/>
        </p:nvSpPr>
        <p:spPr>
          <a:xfrm>
            <a:off x="6517532" y="2250043"/>
            <a:ext cx="5425506" cy="31128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 err="1"/>
              <a:t>read_trylock</a:t>
            </a:r>
            <a:r>
              <a:rPr lang="en-US" altLang="zh-CN" sz="2000" dirty="0"/>
              <a:t>(lock)</a:t>
            </a:r>
            <a:r>
              <a:rPr lang="zh-CN" altLang="en-US" sz="2000" dirty="0"/>
              <a:t>：尝试获取读锁。</a:t>
            </a:r>
          </a:p>
          <a:p>
            <a:r>
              <a:rPr lang="en-US" altLang="zh-CN" sz="2000" dirty="0" err="1"/>
              <a:t>write_trylock</a:t>
            </a:r>
            <a:r>
              <a:rPr lang="en-US" altLang="zh-CN" sz="2000" dirty="0"/>
              <a:t>(lock)</a:t>
            </a:r>
            <a:r>
              <a:rPr lang="zh-CN" altLang="en-US" sz="2000" dirty="0"/>
              <a:t>：尝试获取写锁。</a:t>
            </a:r>
          </a:p>
          <a:p>
            <a:r>
              <a:rPr lang="en-US" altLang="zh-CN" sz="2000" dirty="0" err="1"/>
              <a:t>write_lock</a:t>
            </a:r>
            <a:r>
              <a:rPr lang="en-US" altLang="zh-CN" sz="2000" dirty="0"/>
              <a:t>(lock)`</a:t>
            </a:r>
            <a:r>
              <a:rPr lang="zh-CN" altLang="en-US" sz="2000" dirty="0"/>
              <a:t>：获取写锁。</a:t>
            </a:r>
          </a:p>
          <a:p>
            <a:r>
              <a:rPr lang="en-US" altLang="zh-CN" sz="2000" dirty="0" err="1"/>
              <a:t>read_lock</a:t>
            </a:r>
            <a:r>
              <a:rPr lang="en-US" altLang="zh-CN" sz="2000" dirty="0"/>
              <a:t>(lock)`</a:t>
            </a:r>
            <a:r>
              <a:rPr lang="zh-CN" altLang="en-US" sz="2000" dirty="0"/>
              <a:t>：获取读锁。</a:t>
            </a:r>
          </a:p>
          <a:p>
            <a:r>
              <a:rPr lang="en-US" altLang="zh-CN" sz="2000" dirty="0" err="1"/>
              <a:t>read_lock_irqsave</a:t>
            </a:r>
            <a:r>
              <a:rPr lang="en-US" altLang="zh-CN" sz="2000" dirty="0"/>
              <a:t>(lock, flags)</a:t>
            </a:r>
            <a:r>
              <a:rPr lang="zh-CN" altLang="en-US" sz="2000" dirty="0"/>
              <a:t>：在禁用中断的情况下获取读锁，并保存中断状态。</a:t>
            </a:r>
          </a:p>
          <a:p>
            <a:r>
              <a:rPr lang="en-US" altLang="zh-CN" sz="2000" dirty="0" err="1"/>
              <a:t>write_lock_irqsave</a:t>
            </a:r>
            <a:r>
              <a:rPr lang="en-US" altLang="zh-CN" sz="2000" dirty="0"/>
              <a:t>(lock, flags)</a:t>
            </a:r>
            <a:r>
              <a:rPr lang="zh-CN" altLang="en-US" sz="2000" dirty="0"/>
              <a:t>：在禁用中断的情况下获取写锁，并保存中断状态。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86DFB4-E0FC-40E2-B12D-B92E452FE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07" y="2250042"/>
            <a:ext cx="5637246" cy="356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6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60"/>
            <a:ext cx="10538791" cy="914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基于</a:t>
            </a:r>
            <a:r>
              <a:rPr lang="en-US" altLang="zh-CN" dirty="0"/>
              <a:t>spinlock</a:t>
            </a:r>
            <a:r>
              <a:rPr lang="zh-CN" altLang="en-US" dirty="0"/>
              <a:t>的读写锁的读写锁相关操作主要定义在 </a:t>
            </a:r>
            <a:r>
              <a:rPr lang="en-US" altLang="zh-CN" dirty="0" err="1"/>
              <a:t>rwlock.h</a:t>
            </a:r>
            <a:r>
              <a:rPr lang="en-US" altLang="zh-CN" dirty="0"/>
              <a:t> </a:t>
            </a:r>
            <a:r>
              <a:rPr lang="zh-CN" altLang="en-US" dirty="0"/>
              <a:t>文件中，共三部分，如下是第二部分：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rwlock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相关操作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26E44FE7-1803-4E7B-836E-146243259EC6}"/>
              </a:ext>
            </a:extLst>
          </p:cNvPr>
          <p:cNvSpPr txBox="1">
            <a:spLocks/>
          </p:cNvSpPr>
          <p:nvPr/>
        </p:nvSpPr>
        <p:spPr>
          <a:xfrm>
            <a:off x="6096000" y="2250043"/>
            <a:ext cx="5425506" cy="31128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/>
              <a:t>read_lock_irq</a:t>
            </a:r>
            <a:r>
              <a:rPr lang="en-US" altLang="zh-CN" sz="1600" dirty="0"/>
              <a:t>(lock)</a:t>
            </a:r>
            <a:r>
              <a:rPr lang="zh-CN" altLang="en-US" sz="1600" dirty="0"/>
              <a:t>：在禁用中断的情况下获取读锁。</a:t>
            </a:r>
          </a:p>
          <a:p>
            <a:r>
              <a:rPr lang="en-US" altLang="zh-CN" sz="1600" dirty="0" err="1"/>
              <a:t>read_lock_bh</a:t>
            </a:r>
            <a:r>
              <a:rPr lang="en-US" altLang="zh-CN" sz="1600" dirty="0"/>
              <a:t>(lock)</a:t>
            </a:r>
            <a:r>
              <a:rPr lang="zh-CN" altLang="en-US" sz="1600" dirty="0"/>
              <a:t>：在禁用软中断的情况下获取读锁。</a:t>
            </a:r>
          </a:p>
          <a:p>
            <a:r>
              <a:rPr lang="en-US" altLang="zh-CN" sz="1600" dirty="0" err="1"/>
              <a:t>write_lock_irq</a:t>
            </a:r>
            <a:r>
              <a:rPr lang="en-US" altLang="zh-CN" sz="1600" dirty="0"/>
              <a:t>(lock)</a:t>
            </a:r>
            <a:r>
              <a:rPr lang="zh-CN" altLang="en-US" sz="1600" dirty="0"/>
              <a:t>：在禁用中断的情况下获取写锁。</a:t>
            </a:r>
          </a:p>
          <a:p>
            <a:r>
              <a:rPr lang="en-US" altLang="zh-CN" sz="1600" dirty="0" err="1"/>
              <a:t>write_lock_bh</a:t>
            </a:r>
            <a:r>
              <a:rPr lang="en-US" altLang="zh-CN" sz="1600" dirty="0"/>
              <a:t>(lock)</a:t>
            </a:r>
            <a:r>
              <a:rPr lang="zh-CN" altLang="en-US" sz="1600" dirty="0"/>
              <a:t>：在禁用软中断的情况下获取写锁。</a:t>
            </a:r>
          </a:p>
          <a:p>
            <a:r>
              <a:rPr lang="en-US" altLang="zh-CN" sz="1600" dirty="0" err="1"/>
              <a:t>read_unlock</a:t>
            </a:r>
            <a:r>
              <a:rPr lang="en-US" altLang="zh-CN" sz="1600" dirty="0"/>
              <a:t>(lock)</a:t>
            </a:r>
            <a:r>
              <a:rPr lang="zh-CN" altLang="en-US" sz="1600" dirty="0"/>
              <a:t>：释放读锁。</a:t>
            </a:r>
          </a:p>
          <a:p>
            <a:r>
              <a:rPr lang="en-US" altLang="zh-CN" sz="1600" dirty="0" err="1"/>
              <a:t>write_unlock</a:t>
            </a:r>
            <a:r>
              <a:rPr lang="en-US" altLang="zh-CN" sz="1600" dirty="0"/>
              <a:t>(lock)</a:t>
            </a:r>
            <a:r>
              <a:rPr lang="zh-CN" altLang="en-US" sz="1600" dirty="0"/>
              <a:t>：释放写锁。</a:t>
            </a:r>
          </a:p>
          <a:p>
            <a:r>
              <a:rPr lang="en-US" altLang="zh-CN" sz="1600" dirty="0" err="1"/>
              <a:t>read_unlock_irq</a:t>
            </a:r>
            <a:r>
              <a:rPr lang="en-US" altLang="zh-CN" sz="1600" dirty="0"/>
              <a:t>(lock)</a:t>
            </a:r>
            <a:r>
              <a:rPr lang="zh-CN" altLang="en-US" sz="1600" dirty="0"/>
              <a:t>：在恢复中断的情况下释放读锁。</a:t>
            </a:r>
          </a:p>
          <a:p>
            <a:r>
              <a:rPr lang="en-US" altLang="zh-CN" sz="1600" dirty="0" err="1"/>
              <a:t>write_unlock_irq</a:t>
            </a:r>
            <a:r>
              <a:rPr lang="en-US" altLang="zh-CN" sz="1600" dirty="0"/>
              <a:t>(lock)</a:t>
            </a:r>
            <a:r>
              <a:rPr lang="zh-CN" altLang="en-US" sz="1600" dirty="0"/>
              <a:t>：在恢复中断的情况下释放写锁</a:t>
            </a:r>
            <a:r>
              <a:rPr lang="zh-CN" altLang="en-US" sz="1050" dirty="0"/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9C1E1AF-7560-496C-9653-962D052E8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09" y="2250043"/>
            <a:ext cx="5041042" cy="219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6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60"/>
            <a:ext cx="10538791" cy="914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基于</a:t>
            </a:r>
            <a:r>
              <a:rPr lang="en-US" altLang="zh-CN" dirty="0"/>
              <a:t>spinlock</a:t>
            </a:r>
            <a:r>
              <a:rPr lang="zh-CN" altLang="en-US" dirty="0"/>
              <a:t>的读写锁的读写锁相关操作主要定义在 </a:t>
            </a:r>
            <a:r>
              <a:rPr lang="en-US" altLang="zh-CN" dirty="0" err="1"/>
              <a:t>rwlock.h</a:t>
            </a:r>
            <a:r>
              <a:rPr lang="en-US" altLang="zh-CN" dirty="0"/>
              <a:t> </a:t>
            </a:r>
            <a:r>
              <a:rPr lang="zh-CN" altLang="en-US" dirty="0"/>
              <a:t>文件中，共三部分，如下</a:t>
            </a:r>
            <a:r>
              <a:rPr lang="zh-CN" altLang="en-US"/>
              <a:t>是第三部分</a:t>
            </a:r>
            <a:r>
              <a:rPr lang="zh-CN" altLang="en-US" dirty="0"/>
              <a:t>：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rwlock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相关操作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26E44FE7-1803-4E7B-836E-146243259EC6}"/>
              </a:ext>
            </a:extLst>
          </p:cNvPr>
          <p:cNvSpPr txBox="1">
            <a:spLocks/>
          </p:cNvSpPr>
          <p:nvPr/>
        </p:nvSpPr>
        <p:spPr>
          <a:xfrm>
            <a:off x="6517532" y="2250043"/>
            <a:ext cx="5425506" cy="31128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err="1"/>
              <a:t>read_unlock_irqrestore</a:t>
            </a:r>
            <a:r>
              <a:rPr lang="en-US" altLang="zh-CN" sz="2400" dirty="0"/>
              <a:t>(lock, flags)</a:t>
            </a:r>
            <a:r>
              <a:rPr lang="zh-CN" altLang="en-US" sz="2400" dirty="0"/>
              <a:t>：恢复中断状态并释放读锁。</a:t>
            </a:r>
          </a:p>
          <a:p>
            <a:r>
              <a:rPr lang="en-US" altLang="zh-CN" sz="2400" dirty="0" err="1"/>
              <a:t>write_unlock_irqrestore</a:t>
            </a:r>
            <a:r>
              <a:rPr lang="en-US" altLang="zh-CN" sz="2400" dirty="0"/>
              <a:t>(lock, flags)</a:t>
            </a:r>
            <a:r>
              <a:rPr lang="zh-CN" altLang="en-US" sz="2400" dirty="0"/>
              <a:t>：恢复中断状态并释放写锁。</a:t>
            </a:r>
          </a:p>
          <a:p>
            <a:r>
              <a:rPr lang="en-US" altLang="zh-CN" sz="2400" dirty="0" err="1"/>
              <a:t>write_trylock_irqsave</a:t>
            </a:r>
            <a:r>
              <a:rPr lang="en-US" altLang="zh-CN" sz="2400" dirty="0"/>
              <a:t>(lock, flags)</a:t>
            </a:r>
            <a:r>
              <a:rPr lang="zh-CN" altLang="en-US" sz="2400" dirty="0"/>
              <a:t>：在禁用中断的情况下尝试获取写锁，并保存中断状态。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18C5EA5-14C0-41E3-93E7-AECA9B169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09" y="2094690"/>
            <a:ext cx="4936550" cy="417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1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15009" y="1179760"/>
            <a:ext cx="10538791" cy="914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以上操作中有如下几点需要注意：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rwlock</a:t>
            </a:r>
            <a:r>
              <a:rPr lang="zh-CN" altLang="en-US" dirty="0">
                <a:latin typeface="JetBrains Mono Medium" panose="02000009000000000000" pitchFamily="49" charset="0"/>
                <a:cs typeface="JetBrains Mono Medium" panose="02000009000000000000" pitchFamily="49" charset="0"/>
              </a:rPr>
              <a:t>相关操作</a:t>
            </a:r>
            <a:endParaRPr lang="en-US" altLang="zh-CN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26E44FE7-1803-4E7B-836E-146243259EC6}"/>
              </a:ext>
            </a:extLst>
          </p:cNvPr>
          <p:cNvSpPr txBox="1">
            <a:spLocks/>
          </p:cNvSpPr>
          <p:nvPr/>
        </p:nvSpPr>
        <p:spPr>
          <a:xfrm>
            <a:off x="838200" y="1834997"/>
            <a:ext cx="10538792" cy="4338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_lock </a:t>
            </a:r>
            <a:r>
              <a:rPr lang="zh-CN" altLang="en-US" sz="2400" dirty="0"/>
              <a:t>和 </a:t>
            </a:r>
            <a:r>
              <a:rPr lang="en-US" altLang="zh-CN" sz="2400" dirty="0"/>
              <a:t>_</a:t>
            </a:r>
            <a:r>
              <a:rPr lang="en-US" altLang="zh-CN" sz="2400" dirty="0" err="1"/>
              <a:t>trylock</a:t>
            </a:r>
            <a:r>
              <a:rPr lang="zh-CN" altLang="en-US" sz="2400" dirty="0"/>
              <a:t>：前者失败会阻塞，后者会立即返回值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_</a:t>
            </a:r>
            <a:r>
              <a:rPr lang="en-US" altLang="zh-CN" sz="2400" dirty="0" err="1"/>
              <a:t>unlock_irq</a:t>
            </a:r>
            <a:r>
              <a:rPr lang="en-US" altLang="zh-CN" sz="2400" dirty="0"/>
              <a:t> </a:t>
            </a:r>
            <a:r>
              <a:rPr lang="zh-CN" altLang="en-US" sz="2400" dirty="0"/>
              <a:t>和 </a:t>
            </a:r>
            <a:r>
              <a:rPr lang="en-US" altLang="zh-CN" sz="2400" dirty="0"/>
              <a:t>_</a:t>
            </a:r>
            <a:r>
              <a:rPr lang="en-US" altLang="zh-CN" sz="2400" dirty="0" err="1"/>
              <a:t>unlock_irqrestore</a:t>
            </a:r>
            <a:r>
              <a:rPr lang="zh-CN" altLang="en-US" sz="2400" dirty="0"/>
              <a:t>：前者直接恢复中断，后者需要中断状态 </a:t>
            </a:r>
            <a:r>
              <a:rPr lang="en-US" altLang="zh-CN" sz="2400" dirty="0"/>
              <a:t>flags </a:t>
            </a:r>
            <a:r>
              <a:rPr lang="zh-CN" altLang="en-US" sz="2400" dirty="0"/>
              <a:t>参数恢复到此前的中断状态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_</a:t>
            </a:r>
            <a:r>
              <a:rPr lang="en-US" altLang="zh-CN" sz="2400" dirty="0" err="1"/>
              <a:t>lock_irq</a:t>
            </a:r>
            <a:r>
              <a:rPr lang="en-US" altLang="zh-CN" sz="2400" dirty="0"/>
              <a:t> </a:t>
            </a:r>
            <a:r>
              <a:rPr lang="zh-CN" altLang="en-US" sz="2400" dirty="0"/>
              <a:t>和 </a:t>
            </a:r>
            <a:r>
              <a:rPr lang="en-US" altLang="zh-CN" sz="2400" dirty="0"/>
              <a:t>_</a:t>
            </a:r>
            <a:r>
              <a:rPr lang="en-US" altLang="zh-CN" sz="2400" dirty="0" err="1"/>
              <a:t>lock_irqsave</a:t>
            </a:r>
            <a:r>
              <a:rPr lang="en-US" altLang="zh-CN" sz="2400" dirty="0"/>
              <a:t> </a:t>
            </a:r>
            <a:r>
              <a:rPr lang="zh-CN" altLang="en-US" sz="2400" dirty="0"/>
              <a:t>：前者直接禁用中断，后者则会保存当前中断状态到变量</a:t>
            </a:r>
            <a:r>
              <a:rPr lang="en-US" altLang="zh-CN" sz="2400" dirty="0"/>
              <a:t>flags</a:t>
            </a:r>
          </a:p>
          <a:p>
            <a:endParaRPr lang="en-US" altLang="zh-CN" sz="2400" dirty="0"/>
          </a:p>
          <a:p>
            <a:r>
              <a:rPr lang="en-US" altLang="zh-CN" sz="2400" dirty="0"/>
              <a:t>_</a:t>
            </a:r>
            <a:r>
              <a:rPr lang="en-US" altLang="zh-CN" sz="2400" dirty="0" err="1"/>
              <a:t>lock_irqsave</a:t>
            </a:r>
            <a:r>
              <a:rPr lang="en-US" altLang="zh-CN" sz="2400" dirty="0"/>
              <a:t> </a:t>
            </a:r>
            <a:r>
              <a:rPr lang="zh-CN" altLang="en-US" sz="2400" dirty="0"/>
              <a:t>与 </a:t>
            </a:r>
            <a:r>
              <a:rPr lang="en-US" altLang="zh-CN" sz="2400" dirty="0"/>
              <a:t>_</a:t>
            </a:r>
            <a:r>
              <a:rPr lang="en-US" altLang="zh-CN" sz="2400" dirty="0" err="1"/>
              <a:t>unlock_irqrestore</a:t>
            </a:r>
            <a:r>
              <a:rPr lang="en-US" altLang="zh-CN" sz="2400" dirty="0"/>
              <a:t> </a:t>
            </a:r>
            <a:r>
              <a:rPr lang="zh-CN" altLang="en-US" sz="2400" dirty="0"/>
              <a:t>的应用：如在多层禁用中断锁嵌套的情况下，直接使用</a:t>
            </a:r>
            <a:r>
              <a:rPr lang="en-US" altLang="zh-CN" sz="2400" dirty="0"/>
              <a:t>_</a:t>
            </a:r>
            <a:r>
              <a:rPr lang="en-US" altLang="zh-CN" sz="2400" dirty="0" err="1"/>
              <a:t>lock_irq</a:t>
            </a:r>
            <a:r>
              <a:rPr lang="en-US" altLang="zh-CN" sz="2400" dirty="0"/>
              <a:t> </a:t>
            </a:r>
            <a:r>
              <a:rPr lang="zh-CN" altLang="en-US" sz="2400" dirty="0"/>
              <a:t>和 </a:t>
            </a:r>
            <a:r>
              <a:rPr lang="en-US" altLang="zh-CN" sz="2400" dirty="0"/>
              <a:t>_</a:t>
            </a:r>
            <a:r>
              <a:rPr lang="en-US" altLang="zh-CN" sz="2400" dirty="0" err="1"/>
              <a:t>unlock_irq</a:t>
            </a:r>
            <a:r>
              <a:rPr lang="en-US" altLang="zh-CN" sz="2400" dirty="0"/>
              <a:t> </a:t>
            </a:r>
            <a:r>
              <a:rPr lang="zh-CN" altLang="en-US" sz="2400" dirty="0"/>
              <a:t>很可能导致中断提前恢复，进而出错</a:t>
            </a:r>
          </a:p>
        </p:txBody>
      </p:sp>
    </p:spTree>
    <p:extLst>
      <p:ext uri="{BB962C8B-B14F-4D97-AF65-F5344CB8AC3E}">
        <p14:creationId xmlns:p14="http://schemas.microsoft.com/office/powerpoint/2010/main" val="424299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489555" y="358903"/>
            <a:ext cx="4265218" cy="9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6677" y="2252370"/>
            <a:ext cx="7998645" cy="2353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ViYTdhNmY3NjY3ZWJkYTg1OTQ4NTBkMjYzNGE3Y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A000120140530A99PPBG">
  <a:themeElements>
    <a:clrScheme name="自定义 1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C4994"/>
      </a:accent1>
      <a:accent2>
        <a:srgbClr val="0AA3D4"/>
      </a:accent2>
      <a:accent3>
        <a:srgbClr val="DB1F1F"/>
      </a:accent3>
      <a:accent4>
        <a:srgbClr val="247B95"/>
      </a:accent4>
      <a:accent5>
        <a:srgbClr val="AE1324"/>
      </a:accent5>
      <a:accent6>
        <a:srgbClr val="045A88"/>
      </a:accent6>
      <a:hlink>
        <a:srgbClr val="004986"/>
      </a:hlink>
      <a:folHlink>
        <a:srgbClr val="BFBFBF"/>
      </a:folHlink>
    </a:clrScheme>
    <a:fontScheme name="雅黑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2109</Words>
  <Application>Microsoft Office PowerPoint</Application>
  <PresentationFormat>宽屏</PresentationFormat>
  <Paragraphs>225</Paragraphs>
  <Slides>40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Arial</vt:lpstr>
      <vt:lpstr>JetBrains Mono ExtraBold</vt:lpstr>
      <vt:lpstr>Consolas</vt:lpstr>
      <vt:lpstr>Impact</vt:lpstr>
      <vt:lpstr>微软雅黑</vt:lpstr>
      <vt:lpstr>等线</vt:lpstr>
      <vt:lpstr>JetBrains Mono Medium</vt:lpstr>
      <vt:lpstr>A000120140530A99PPBG</vt:lpstr>
      <vt:lpstr>Xv6 源码阅读汇报：管道</vt:lpstr>
      <vt:lpstr>PowerPoint 演示文稿</vt:lpstr>
      <vt:lpstr>PowerPoint 演示文稿</vt:lpstr>
      <vt:lpstr>WHY PIPE？</vt:lpstr>
      <vt:lpstr>HOW PIPE？</vt:lpstr>
      <vt:lpstr>WHAT’S PIPE</vt:lpstr>
      <vt:lpstr>搭建管道</vt:lpstr>
      <vt:lpstr>搭建管道</vt:lpstr>
      <vt:lpstr>PowerPoint 演示文稿</vt:lpstr>
      <vt:lpstr>pipealloc()函数</vt:lpstr>
      <vt:lpstr>pipeclose()函数</vt:lpstr>
      <vt:lpstr>PowerPoint 演示文稿</vt:lpstr>
      <vt:lpstr>基础题2-1:pipewrite()函数语义</vt:lpstr>
      <vt:lpstr>基础题2-1:piperead()的函数语义</vt:lpstr>
      <vt:lpstr>PowerPoint 演示文稿</vt:lpstr>
      <vt:lpstr>基础题2-1/2-2:管道动画演示</vt:lpstr>
      <vt:lpstr>基础题2-1/2-2:管道动画演示</vt:lpstr>
      <vt:lpstr>基础题2-1/2-2:管道动画演示</vt:lpstr>
      <vt:lpstr>基础题2-1/2-2:管道动画演示</vt:lpstr>
      <vt:lpstr>基础题2-1/2-2:管道动画演示</vt:lpstr>
      <vt:lpstr>基础题2-1/2-2:管道动画演示</vt:lpstr>
      <vt:lpstr>基础题2-1/2-2:管道动画演示</vt:lpstr>
      <vt:lpstr>PowerPoint 演示文稿</vt:lpstr>
      <vt:lpstr>基础题3</vt:lpstr>
      <vt:lpstr>基础题4</vt:lpstr>
      <vt:lpstr>PowerPoint 演示文稿</vt:lpstr>
      <vt:lpstr>进阶题</vt:lpstr>
      <vt:lpstr>读写锁的由来</vt:lpstr>
      <vt:lpstr>读写锁的特性</vt:lpstr>
      <vt:lpstr>读写锁的基本原理</vt:lpstr>
      <vt:lpstr>读写锁的使用场景</vt:lpstr>
      <vt:lpstr>Linux Kernel 中的 spinlock 类型读写锁</vt:lpstr>
      <vt:lpstr>1.arch_spinlock_t 数据结构</vt:lpstr>
      <vt:lpstr>2. arch_rwlock_t 数据结构</vt:lpstr>
      <vt:lpstr>3. rwlock_t 数据结构</vt:lpstr>
      <vt:lpstr>rwlock相关操作</vt:lpstr>
      <vt:lpstr>rwlock相关操作</vt:lpstr>
      <vt:lpstr>rwlock相关操作</vt:lpstr>
      <vt:lpstr>rwlock相关操作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WJT</dc:creator>
  <cp:lastModifiedBy>Zeli Wang</cp:lastModifiedBy>
  <cp:revision>162</cp:revision>
  <dcterms:created xsi:type="dcterms:W3CDTF">2024-10-19T09:29:56Z</dcterms:created>
  <dcterms:modified xsi:type="dcterms:W3CDTF">2024-10-21T09:25:50Z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61C317A25D99674C276713676666A565_42</vt:lpwstr>
  </property>
  <property fmtid="{D5CDD505-2E9C-101B-9397-08002B2CF9AE}" pid="3" name="KSOProductBuildVer">
    <vt:lpwstr>2052-6.11.0.8885</vt:lpwstr>
  </property>
</Properties>
</file>